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89"/>
    <p:restoredTop sz="76276"/>
  </p:normalViewPr>
  <p:slideViewPr>
    <p:cSldViewPr snapToGrid="0">
      <p:cViewPr varScale="1">
        <p:scale>
          <a:sx n="115" d="100"/>
          <a:sy n="115" d="100"/>
        </p:scale>
        <p:origin x="5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image" Target="../media/image15.jpg"/></Relationships>
</file>

<file path=ppt/diagrams/_rels/drawing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image" Target="../media/image15.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8A27F0-773A-4440-B8B9-5C1C34598D1A}" type="doc">
      <dgm:prSet loTypeId="urn:microsoft.com/office/officeart/2008/layout/BendingPictureCaption" loCatId="" qsTypeId="urn:microsoft.com/office/officeart/2005/8/quickstyle/simple1" qsCatId="simple" csTypeId="urn:microsoft.com/office/officeart/2005/8/colors/accent1_2" csCatId="accent1" phldr="1"/>
      <dgm:spPr/>
    </dgm:pt>
    <dgm:pt modelId="{AA695AED-3829-5348-97CA-F2F4D73B45D6}">
      <dgm:prSet phldrT="[Text]"/>
      <dgm:spPr/>
      <dgm:t>
        <a:bodyPr/>
        <a:lstStyle/>
        <a:p>
          <a:r>
            <a:rPr lang="en-US" dirty="0"/>
            <a:t>Conference games</a:t>
          </a:r>
        </a:p>
      </dgm:t>
    </dgm:pt>
    <dgm:pt modelId="{DFCDCE54-39C0-004F-8FD1-DF1DEDB5F77A}" type="parTrans" cxnId="{E8793E7A-A7CB-1240-9FC1-EB36E6B38097}">
      <dgm:prSet/>
      <dgm:spPr/>
      <dgm:t>
        <a:bodyPr/>
        <a:lstStyle/>
        <a:p>
          <a:endParaRPr lang="en-US"/>
        </a:p>
      </dgm:t>
    </dgm:pt>
    <dgm:pt modelId="{35B54C26-E330-914E-B559-EA2DE8943299}" type="sibTrans" cxnId="{E8793E7A-A7CB-1240-9FC1-EB36E6B38097}">
      <dgm:prSet/>
      <dgm:spPr/>
      <dgm:t>
        <a:bodyPr/>
        <a:lstStyle/>
        <a:p>
          <a:endParaRPr lang="en-US"/>
        </a:p>
      </dgm:t>
    </dgm:pt>
    <dgm:pt modelId="{3BF567BB-DB7A-A44C-9817-8BD4525ACC11}">
      <dgm:prSet phldrT="[Text]"/>
      <dgm:spPr/>
      <dgm:t>
        <a:bodyPr/>
        <a:lstStyle/>
        <a:p>
          <a:r>
            <a:rPr lang="en-US" dirty="0"/>
            <a:t>Additional variables</a:t>
          </a:r>
        </a:p>
      </dgm:t>
    </dgm:pt>
    <dgm:pt modelId="{5719FCE4-34D2-764F-B58D-815AA8964C74}" type="parTrans" cxnId="{3EED2E46-7787-D84B-B21A-DD0FA9EBFE49}">
      <dgm:prSet/>
      <dgm:spPr/>
      <dgm:t>
        <a:bodyPr/>
        <a:lstStyle/>
        <a:p>
          <a:endParaRPr lang="en-US"/>
        </a:p>
      </dgm:t>
    </dgm:pt>
    <dgm:pt modelId="{D6947ECD-1223-3143-BCDB-AE6FA4636EE0}" type="sibTrans" cxnId="{3EED2E46-7787-D84B-B21A-DD0FA9EBFE49}">
      <dgm:prSet/>
      <dgm:spPr/>
      <dgm:t>
        <a:bodyPr/>
        <a:lstStyle/>
        <a:p>
          <a:endParaRPr lang="en-US"/>
        </a:p>
      </dgm:t>
    </dgm:pt>
    <dgm:pt modelId="{2C453745-2E78-394C-9D18-FB138FC60395}">
      <dgm:prSet phldrT="[Text]"/>
      <dgm:spPr/>
      <dgm:t>
        <a:bodyPr/>
        <a:lstStyle/>
        <a:p>
          <a:r>
            <a:rPr lang="en-US" dirty="0"/>
            <a:t>Travel logistics</a:t>
          </a:r>
        </a:p>
      </dgm:t>
    </dgm:pt>
    <dgm:pt modelId="{8B3026CC-C8AD-544C-968E-09E741AA6EF1}" type="parTrans" cxnId="{27DC76E6-4F6A-C545-BB1D-C941CE6DA04A}">
      <dgm:prSet/>
      <dgm:spPr/>
      <dgm:t>
        <a:bodyPr/>
        <a:lstStyle/>
        <a:p>
          <a:endParaRPr lang="en-US"/>
        </a:p>
      </dgm:t>
    </dgm:pt>
    <dgm:pt modelId="{010EFF3F-2CB1-5246-962D-C389FAF69911}" type="sibTrans" cxnId="{27DC76E6-4F6A-C545-BB1D-C941CE6DA04A}">
      <dgm:prSet/>
      <dgm:spPr/>
      <dgm:t>
        <a:bodyPr/>
        <a:lstStyle/>
        <a:p>
          <a:endParaRPr lang="en-US"/>
        </a:p>
      </dgm:t>
    </dgm:pt>
    <dgm:pt modelId="{04F91D18-35C9-4242-8E49-F445D50FE595}" type="pres">
      <dgm:prSet presAssocID="{D48A27F0-773A-4440-B8B9-5C1C34598D1A}" presName="diagram" presStyleCnt="0">
        <dgm:presLayoutVars>
          <dgm:dir/>
        </dgm:presLayoutVars>
      </dgm:prSet>
      <dgm:spPr/>
    </dgm:pt>
    <dgm:pt modelId="{D42E482B-8CD3-9C42-B81E-ED37B3F29E66}" type="pres">
      <dgm:prSet presAssocID="{AA695AED-3829-5348-97CA-F2F4D73B45D6}" presName="composite" presStyleCnt="0"/>
      <dgm:spPr/>
    </dgm:pt>
    <dgm:pt modelId="{BA3501C7-E25A-6948-A0AD-4B11BF0B4B55}" type="pres">
      <dgm:prSet presAssocID="{AA695AED-3829-5348-97CA-F2F4D73B45D6}" presName="Image" presStyleLbl="bgShp" presStyleIdx="0" presStyleCnt="3"/>
      <dgm:spPr>
        <a:blipFill>
          <a:blip xmlns:r="http://schemas.openxmlformats.org/officeDocument/2006/relationships" r:embed="rId1"/>
          <a:srcRect/>
          <a:stretch>
            <a:fillRect l="-17000" r="-17000"/>
          </a:stretch>
        </a:blipFill>
      </dgm:spPr>
      <dgm:extLst>
        <a:ext uri="{E40237B7-FDA0-4F09-8148-C483321AD2D9}">
          <dgm14:cNvPr xmlns:dgm14="http://schemas.microsoft.com/office/drawing/2010/diagram" id="0" name="" descr="Duke lands 519 on ACC academic honor roll :: WRALSportsFan.com"/>
        </a:ext>
      </dgm:extLst>
    </dgm:pt>
    <dgm:pt modelId="{0CEFA94D-9610-F641-892C-D3DD48DD963F}" type="pres">
      <dgm:prSet presAssocID="{AA695AED-3829-5348-97CA-F2F4D73B45D6}" presName="Parent" presStyleLbl="node0" presStyleIdx="0" presStyleCnt="3">
        <dgm:presLayoutVars>
          <dgm:bulletEnabled val="1"/>
        </dgm:presLayoutVars>
      </dgm:prSet>
      <dgm:spPr/>
    </dgm:pt>
    <dgm:pt modelId="{75ACF850-4239-FE48-B282-99256FA9D83D}" type="pres">
      <dgm:prSet presAssocID="{35B54C26-E330-914E-B559-EA2DE8943299}" presName="sibTrans" presStyleCnt="0"/>
      <dgm:spPr/>
    </dgm:pt>
    <dgm:pt modelId="{44D9B09E-1B77-874E-A58A-2495638D02AB}" type="pres">
      <dgm:prSet presAssocID="{3BF567BB-DB7A-A44C-9817-8BD4525ACC11}" presName="composite" presStyleCnt="0"/>
      <dgm:spPr/>
    </dgm:pt>
    <dgm:pt modelId="{8456B84C-96F6-DE4E-B26C-FD7BF4E7A505}" type="pres">
      <dgm:prSet presAssocID="{3BF567BB-DB7A-A44C-9817-8BD4525ACC11}" presName="Image" presStyleLbl="bgShp" presStyleIdx="1" presStyleCnt="3"/>
      <dgm:spPr>
        <a:blipFill>
          <a:blip xmlns:r="http://schemas.openxmlformats.org/officeDocument/2006/relationships" r:embed="rId2"/>
          <a:srcRect/>
          <a:stretch>
            <a:fillRect l="-19000" r="-19000"/>
          </a:stretch>
        </a:blipFill>
      </dgm:spPr>
      <dgm:extLst>
        <a:ext uri="{E40237B7-FDA0-4F09-8148-C483321AD2D9}">
          <dgm14:cNvPr xmlns:dgm14="http://schemas.microsoft.com/office/drawing/2010/diagram" id="0" name="" descr="Home - Psychology of Injury and Performance: EXNS 3123W (WID ..."/>
        </a:ext>
      </dgm:extLst>
    </dgm:pt>
    <dgm:pt modelId="{EF2FB0AF-C53E-3D47-BE5E-D08AEEAAFC7D}" type="pres">
      <dgm:prSet presAssocID="{3BF567BB-DB7A-A44C-9817-8BD4525ACC11}" presName="Parent" presStyleLbl="node0" presStyleIdx="1" presStyleCnt="3">
        <dgm:presLayoutVars>
          <dgm:bulletEnabled val="1"/>
        </dgm:presLayoutVars>
      </dgm:prSet>
      <dgm:spPr/>
    </dgm:pt>
    <dgm:pt modelId="{4C222315-81B2-7249-A944-29DBCB595973}" type="pres">
      <dgm:prSet presAssocID="{D6947ECD-1223-3143-BCDB-AE6FA4636EE0}" presName="sibTrans" presStyleCnt="0"/>
      <dgm:spPr/>
    </dgm:pt>
    <dgm:pt modelId="{79468C74-B77B-E743-A04E-10C3F10BDC09}" type="pres">
      <dgm:prSet presAssocID="{2C453745-2E78-394C-9D18-FB138FC60395}" presName="composite" presStyleCnt="0"/>
      <dgm:spPr/>
    </dgm:pt>
    <dgm:pt modelId="{0DBE8255-D4AD-B340-93FC-391508E5E4BD}" type="pres">
      <dgm:prSet presAssocID="{2C453745-2E78-394C-9D18-FB138FC60395}" presName="Image" presStyleLbl="bgShp" presStyleIdx="2" presStyleCnt="3"/>
      <dgm:spPr>
        <a:blipFill>
          <a:blip xmlns:r="http://schemas.openxmlformats.org/officeDocument/2006/relationships" r:embed="rId3"/>
          <a:srcRect/>
          <a:stretch>
            <a:fillRect l="-17000" r="-17000"/>
          </a:stretch>
        </a:blipFill>
      </dgm:spPr>
      <dgm:extLst>
        <a:ext uri="{E40237B7-FDA0-4F09-8148-C483321AD2D9}">
          <dgm14:cNvPr xmlns:dgm14="http://schemas.microsoft.com/office/drawing/2010/diagram" id="0" name="" descr="Plane Images - Duul Wallpaper"/>
        </a:ext>
      </dgm:extLst>
    </dgm:pt>
    <dgm:pt modelId="{A1017A07-F285-6F4E-BF3D-F3307F455153}" type="pres">
      <dgm:prSet presAssocID="{2C453745-2E78-394C-9D18-FB138FC60395}" presName="Parent" presStyleLbl="node0" presStyleIdx="2" presStyleCnt="3">
        <dgm:presLayoutVars>
          <dgm:bulletEnabled val="1"/>
        </dgm:presLayoutVars>
      </dgm:prSet>
      <dgm:spPr/>
    </dgm:pt>
  </dgm:ptLst>
  <dgm:cxnLst>
    <dgm:cxn modelId="{EC02C207-025F-FF4F-B8F2-FC23DD9FD186}" type="presOf" srcId="{D48A27F0-773A-4440-B8B9-5C1C34598D1A}" destId="{04F91D18-35C9-4242-8E49-F445D50FE595}" srcOrd="0" destOrd="0" presId="urn:microsoft.com/office/officeart/2008/layout/BendingPictureCaption"/>
    <dgm:cxn modelId="{74860237-FDDF-D345-98CC-B348B125425A}" type="presOf" srcId="{2C453745-2E78-394C-9D18-FB138FC60395}" destId="{A1017A07-F285-6F4E-BF3D-F3307F455153}" srcOrd="0" destOrd="0" presId="urn:microsoft.com/office/officeart/2008/layout/BendingPictureCaption"/>
    <dgm:cxn modelId="{641E053D-6901-8D40-870D-D4C68EF37C70}" type="presOf" srcId="{AA695AED-3829-5348-97CA-F2F4D73B45D6}" destId="{0CEFA94D-9610-F641-892C-D3DD48DD963F}" srcOrd="0" destOrd="0" presId="urn:microsoft.com/office/officeart/2008/layout/BendingPictureCaption"/>
    <dgm:cxn modelId="{3EED2E46-7787-D84B-B21A-DD0FA9EBFE49}" srcId="{D48A27F0-773A-4440-B8B9-5C1C34598D1A}" destId="{3BF567BB-DB7A-A44C-9817-8BD4525ACC11}" srcOrd="1" destOrd="0" parTransId="{5719FCE4-34D2-764F-B58D-815AA8964C74}" sibTransId="{D6947ECD-1223-3143-BCDB-AE6FA4636EE0}"/>
    <dgm:cxn modelId="{E8793E7A-A7CB-1240-9FC1-EB36E6B38097}" srcId="{D48A27F0-773A-4440-B8B9-5C1C34598D1A}" destId="{AA695AED-3829-5348-97CA-F2F4D73B45D6}" srcOrd="0" destOrd="0" parTransId="{DFCDCE54-39C0-004F-8FD1-DF1DEDB5F77A}" sibTransId="{35B54C26-E330-914E-B559-EA2DE8943299}"/>
    <dgm:cxn modelId="{731684A5-7385-BE49-9D78-D7D26AF38B61}" type="presOf" srcId="{3BF567BB-DB7A-A44C-9817-8BD4525ACC11}" destId="{EF2FB0AF-C53E-3D47-BE5E-D08AEEAAFC7D}" srcOrd="0" destOrd="0" presId="urn:microsoft.com/office/officeart/2008/layout/BendingPictureCaption"/>
    <dgm:cxn modelId="{27DC76E6-4F6A-C545-BB1D-C941CE6DA04A}" srcId="{D48A27F0-773A-4440-B8B9-5C1C34598D1A}" destId="{2C453745-2E78-394C-9D18-FB138FC60395}" srcOrd="2" destOrd="0" parTransId="{8B3026CC-C8AD-544C-968E-09E741AA6EF1}" sibTransId="{010EFF3F-2CB1-5246-962D-C389FAF69911}"/>
    <dgm:cxn modelId="{1FB0298D-97AC-344B-8EAA-B3DE37D82347}" type="presParOf" srcId="{04F91D18-35C9-4242-8E49-F445D50FE595}" destId="{D42E482B-8CD3-9C42-B81E-ED37B3F29E66}" srcOrd="0" destOrd="0" presId="urn:microsoft.com/office/officeart/2008/layout/BendingPictureCaption"/>
    <dgm:cxn modelId="{36A7A377-5F73-2241-BD18-CD54FFDCCB91}" type="presParOf" srcId="{D42E482B-8CD3-9C42-B81E-ED37B3F29E66}" destId="{BA3501C7-E25A-6948-A0AD-4B11BF0B4B55}" srcOrd="0" destOrd="0" presId="urn:microsoft.com/office/officeart/2008/layout/BendingPictureCaption"/>
    <dgm:cxn modelId="{A416B3CC-D3AB-2C45-B87B-31C0422CADCA}" type="presParOf" srcId="{D42E482B-8CD3-9C42-B81E-ED37B3F29E66}" destId="{0CEFA94D-9610-F641-892C-D3DD48DD963F}" srcOrd="1" destOrd="0" presId="urn:microsoft.com/office/officeart/2008/layout/BendingPictureCaption"/>
    <dgm:cxn modelId="{38C94D4E-5783-7840-9FAF-7BCD600837BC}" type="presParOf" srcId="{04F91D18-35C9-4242-8E49-F445D50FE595}" destId="{75ACF850-4239-FE48-B282-99256FA9D83D}" srcOrd="1" destOrd="0" presId="urn:microsoft.com/office/officeart/2008/layout/BendingPictureCaption"/>
    <dgm:cxn modelId="{0F587B9F-E43A-214D-B976-BA6CE2217060}" type="presParOf" srcId="{04F91D18-35C9-4242-8E49-F445D50FE595}" destId="{44D9B09E-1B77-874E-A58A-2495638D02AB}" srcOrd="2" destOrd="0" presId="urn:microsoft.com/office/officeart/2008/layout/BendingPictureCaption"/>
    <dgm:cxn modelId="{7CE6CC44-CDC0-7146-8FD0-DDC3C9C67D6B}" type="presParOf" srcId="{44D9B09E-1B77-874E-A58A-2495638D02AB}" destId="{8456B84C-96F6-DE4E-B26C-FD7BF4E7A505}" srcOrd="0" destOrd="0" presId="urn:microsoft.com/office/officeart/2008/layout/BendingPictureCaption"/>
    <dgm:cxn modelId="{9D4061C7-4254-154B-90D5-F284E9935F26}" type="presParOf" srcId="{44D9B09E-1B77-874E-A58A-2495638D02AB}" destId="{EF2FB0AF-C53E-3D47-BE5E-D08AEEAAFC7D}" srcOrd="1" destOrd="0" presId="urn:microsoft.com/office/officeart/2008/layout/BendingPictureCaption"/>
    <dgm:cxn modelId="{16F7D6AE-B1AF-7B41-8E70-2C32681506F0}" type="presParOf" srcId="{04F91D18-35C9-4242-8E49-F445D50FE595}" destId="{4C222315-81B2-7249-A944-29DBCB595973}" srcOrd="3" destOrd="0" presId="urn:microsoft.com/office/officeart/2008/layout/BendingPictureCaption"/>
    <dgm:cxn modelId="{BF6C0394-66F1-8643-9D88-E3598FD94595}" type="presParOf" srcId="{04F91D18-35C9-4242-8E49-F445D50FE595}" destId="{79468C74-B77B-E743-A04E-10C3F10BDC09}" srcOrd="4" destOrd="0" presId="urn:microsoft.com/office/officeart/2008/layout/BendingPictureCaption"/>
    <dgm:cxn modelId="{03FA7386-95A2-2048-A175-65F12142A135}" type="presParOf" srcId="{79468C74-B77B-E743-A04E-10C3F10BDC09}" destId="{0DBE8255-D4AD-B340-93FC-391508E5E4BD}" srcOrd="0" destOrd="0" presId="urn:microsoft.com/office/officeart/2008/layout/BendingPictureCaption"/>
    <dgm:cxn modelId="{D7EAF64D-5ED7-A847-90E8-A07CBC593985}" type="presParOf" srcId="{79468C74-B77B-E743-A04E-10C3F10BDC09}" destId="{A1017A07-F285-6F4E-BF3D-F3307F455153}"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501C7-E25A-6948-A0AD-4B11BF0B4B55}">
      <dsp:nvSpPr>
        <dsp:cNvPr id="0" name=""/>
        <dsp:cNvSpPr/>
      </dsp:nvSpPr>
      <dsp:spPr>
        <a:xfrm>
          <a:off x="2897" y="685759"/>
          <a:ext cx="2333024" cy="1724096"/>
        </a:xfrm>
        <a:prstGeom prst="rect">
          <a:avLst/>
        </a:prstGeom>
        <a:blipFill>
          <a:blip xmlns:r="http://schemas.openxmlformats.org/officeDocument/2006/relationships" r:embed="rId1"/>
          <a:srcRect/>
          <a:stretch>
            <a:fillRect l="-17000" r="-17000"/>
          </a:stretch>
        </a:blipFill>
        <a:ln>
          <a:noFill/>
        </a:ln>
        <a:effectLst/>
      </dsp:spPr>
      <dsp:style>
        <a:lnRef idx="0">
          <a:scrgbClr r="0" g="0" b="0"/>
        </a:lnRef>
        <a:fillRef idx="1">
          <a:scrgbClr r="0" g="0" b="0"/>
        </a:fillRef>
        <a:effectRef idx="0">
          <a:scrgbClr r="0" g="0" b="0"/>
        </a:effectRef>
        <a:fontRef idx="minor"/>
      </dsp:style>
    </dsp:sp>
    <dsp:sp modelId="{0CEFA94D-9610-F641-892C-D3DD48DD963F}">
      <dsp:nvSpPr>
        <dsp:cNvPr id="0" name=""/>
        <dsp:cNvSpPr/>
      </dsp:nvSpPr>
      <dsp:spPr>
        <a:xfrm>
          <a:off x="474466" y="2097245"/>
          <a:ext cx="2010371" cy="483125"/>
        </a:xfrm>
        <a:prstGeom prst="rect">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5000"/>
            </a:spcAft>
            <a:buNone/>
          </a:pPr>
          <a:r>
            <a:rPr lang="en-US" sz="1700" kern="1200" dirty="0"/>
            <a:t>Conference games</a:t>
          </a:r>
        </a:p>
      </dsp:txBody>
      <dsp:txXfrm>
        <a:off x="474466" y="2097245"/>
        <a:ext cx="2010371" cy="483125"/>
      </dsp:txXfrm>
    </dsp:sp>
    <dsp:sp modelId="{8456B84C-96F6-DE4E-B26C-FD7BF4E7A505}">
      <dsp:nvSpPr>
        <dsp:cNvPr id="0" name=""/>
        <dsp:cNvSpPr/>
      </dsp:nvSpPr>
      <dsp:spPr>
        <a:xfrm>
          <a:off x="2973819" y="685759"/>
          <a:ext cx="2333024" cy="1724096"/>
        </a:xfrm>
        <a:prstGeom prst="rect">
          <a:avLst/>
        </a:prstGeom>
        <a:blipFill>
          <a:blip xmlns:r="http://schemas.openxmlformats.org/officeDocument/2006/relationships" r:embed="rId2"/>
          <a:srcRect/>
          <a:stretch>
            <a:fillRect l="-19000" r="-19000"/>
          </a:stretch>
        </a:blipFill>
        <a:ln>
          <a:noFill/>
        </a:ln>
        <a:effectLst/>
      </dsp:spPr>
      <dsp:style>
        <a:lnRef idx="0">
          <a:scrgbClr r="0" g="0" b="0"/>
        </a:lnRef>
        <a:fillRef idx="1">
          <a:scrgbClr r="0" g="0" b="0"/>
        </a:fillRef>
        <a:effectRef idx="0">
          <a:scrgbClr r="0" g="0" b="0"/>
        </a:effectRef>
        <a:fontRef idx="minor"/>
      </dsp:style>
    </dsp:sp>
    <dsp:sp modelId="{EF2FB0AF-C53E-3D47-BE5E-D08AEEAAFC7D}">
      <dsp:nvSpPr>
        <dsp:cNvPr id="0" name=""/>
        <dsp:cNvSpPr/>
      </dsp:nvSpPr>
      <dsp:spPr>
        <a:xfrm>
          <a:off x="3445388" y="2097245"/>
          <a:ext cx="2010371" cy="483125"/>
        </a:xfrm>
        <a:prstGeom prst="rect">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5000"/>
            </a:spcAft>
            <a:buNone/>
          </a:pPr>
          <a:r>
            <a:rPr lang="en-US" sz="1700" kern="1200" dirty="0"/>
            <a:t>Additional variables</a:t>
          </a:r>
        </a:p>
      </dsp:txBody>
      <dsp:txXfrm>
        <a:off x="3445388" y="2097245"/>
        <a:ext cx="2010371" cy="483125"/>
      </dsp:txXfrm>
    </dsp:sp>
    <dsp:sp modelId="{0DBE8255-D4AD-B340-93FC-391508E5E4BD}">
      <dsp:nvSpPr>
        <dsp:cNvPr id="0" name=""/>
        <dsp:cNvSpPr/>
      </dsp:nvSpPr>
      <dsp:spPr>
        <a:xfrm>
          <a:off x="5944741" y="685759"/>
          <a:ext cx="2333024" cy="1724096"/>
        </a:xfrm>
        <a:prstGeom prst="rect">
          <a:avLst/>
        </a:prstGeom>
        <a:blipFill>
          <a:blip xmlns:r="http://schemas.openxmlformats.org/officeDocument/2006/relationships" r:embed="rId3"/>
          <a:srcRect/>
          <a:stretch>
            <a:fillRect l="-17000" r="-17000"/>
          </a:stretch>
        </a:blipFill>
        <a:ln>
          <a:noFill/>
        </a:ln>
        <a:effectLst/>
      </dsp:spPr>
      <dsp:style>
        <a:lnRef idx="0">
          <a:scrgbClr r="0" g="0" b="0"/>
        </a:lnRef>
        <a:fillRef idx="1">
          <a:scrgbClr r="0" g="0" b="0"/>
        </a:fillRef>
        <a:effectRef idx="0">
          <a:scrgbClr r="0" g="0" b="0"/>
        </a:effectRef>
        <a:fontRef idx="minor"/>
      </dsp:style>
    </dsp:sp>
    <dsp:sp modelId="{A1017A07-F285-6F4E-BF3D-F3307F455153}">
      <dsp:nvSpPr>
        <dsp:cNvPr id="0" name=""/>
        <dsp:cNvSpPr/>
      </dsp:nvSpPr>
      <dsp:spPr>
        <a:xfrm>
          <a:off x="6416310" y="2097245"/>
          <a:ext cx="2010371" cy="483125"/>
        </a:xfrm>
        <a:prstGeom prst="rect">
          <a:avLst/>
        </a:prstGeom>
        <a:solidFill>
          <a:schemeClr val="accent1">
            <a:hueOff val="0"/>
            <a:satOff val="0"/>
            <a:lumOff val="0"/>
            <a:alphaOff val="0"/>
          </a:schemeClr>
        </a:solidFill>
        <a:ln w="25400" cap="flat" cmpd="sng" algn="ctr">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5000"/>
            </a:spcAft>
            <a:buNone/>
          </a:pPr>
          <a:r>
            <a:rPr lang="en-US" sz="1700" kern="1200" dirty="0"/>
            <a:t>Travel logistics</a:t>
          </a:r>
        </a:p>
      </dsp:txBody>
      <dsp:txXfrm>
        <a:off x="6416310" y="2097245"/>
        <a:ext cx="2010371" cy="483125"/>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3C71F8-677C-C248-8DFE-6D4E69688B0A}"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62C09-60B3-6745-A687-DF8C16EEB93D}" type="slidenum">
              <a:rPr lang="en-US" smtClean="0"/>
              <a:t>‹#›</a:t>
            </a:fld>
            <a:endParaRPr lang="en-US"/>
          </a:p>
        </p:txBody>
      </p:sp>
    </p:spTree>
    <p:extLst>
      <p:ext uri="{BB962C8B-B14F-4D97-AF65-F5344CB8AC3E}">
        <p14:creationId xmlns:p14="http://schemas.microsoft.com/office/powerpoint/2010/main" val="320088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Good morning! I am excited to present my cluster analysis for classifying Notre Dame softball student-athletes based on their resistance to travel fatigue.</a:t>
            </a:r>
          </a:p>
        </p:txBody>
      </p:sp>
      <p:sp>
        <p:nvSpPr>
          <p:cNvPr id="4" name="Slide Number Placeholder 3"/>
          <p:cNvSpPr>
            <a:spLocks noGrp="1"/>
          </p:cNvSpPr>
          <p:nvPr>
            <p:ph type="sldNum" sz="quarter" idx="5"/>
          </p:nvPr>
        </p:nvSpPr>
        <p:spPr/>
        <p:txBody>
          <a:bodyPr/>
          <a:lstStyle/>
          <a:p>
            <a:fld id="{1C362C09-60B3-6745-A687-DF8C16EEB93D}" type="slidenum">
              <a:rPr lang="en-US" smtClean="0"/>
              <a:t>1</a:t>
            </a:fld>
            <a:endParaRPr lang="en-US"/>
          </a:p>
        </p:txBody>
      </p:sp>
    </p:spTree>
    <p:extLst>
      <p:ext uri="{BB962C8B-B14F-4D97-AF65-F5344CB8AC3E}">
        <p14:creationId xmlns:p14="http://schemas.microsoft.com/office/powerpoint/2010/main" val="2354118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kern="1200" dirty="0">
                <a:solidFill>
                  <a:schemeClr val="tx1"/>
                </a:solidFill>
                <a:effectLst/>
                <a:latin typeface="+mn-lt"/>
                <a:ea typeface="+mn-ea"/>
                <a:cs typeface="+mn-cs"/>
              </a:rPr>
              <a:t>With the increase in long-distance travel due to conference realignment, student-athletes must travel frequently for competitions, heightening the risk of travel fatigue. For athletes’ health, safety, and longevity, minimizing fatigue becomes a fundamental priority.</a:t>
            </a:r>
          </a:p>
          <a:p>
            <a:pPr marL="171450" indent="-171450">
              <a:buFontTx/>
              <a:buChar char="-"/>
            </a:pPr>
            <a:r>
              <a:rPr lang="en-US" sz="1200" kern="1200" dirty="0">
                <a:solidFill>
                  <a:schemeClr val="tx1"/>
                </a:solidFill>
                <a:effectLst/>
                <a:latin typeface="+mn-lt"/>
                <a:ea typeface="+mn-ea"/>
                <a:cs typeface="+mn-cs"/>
              </a:rPr>
              <a:t>The objective of my analysis is to cluster softball student-athletes at the University of Notre Dame based on how their force plate jump performance responds to shared team travel stress, grouping them into one of five clusters based on their individual stress response.</a:t>
            </a:r>
          </a:p>
          <a:p>
            <a:pPr marL="628650" lvl="1" indent="-171450">
              <a:buFontTx/>
              <a:buChar char="-"/>
            </a:pPr>
            <a:r>
              <a:rPr lang="en-US" sz="1200" kern="1200" dirty="0">
                <a:solidFill>
                  <a:schemeClr val="tx1"/>
                </a:solidFill>
                <a:effectLst/>
                <a:latin typeface="+mn-lt"/>
                <a:ea typeface="+mn-ea"/>
                <a:cs typeface="+mn-cs"/>
              </a:rPr>
              <a:t>This analysis uses force plate data from Notre Dame Athletics, as well as the official travel itinerary from each softball trip.</a:t>
            </a:r>
          </a:p>
          <a:p>
            <a:pPr marL="171450" lvl="0" indent="-171450">
              <a:buFontTx/>
              <a:buChar char="-"/>
            </a:pPr>
            <a:r>
              <a:rPr lang="en-US" sz="1200" kern="1200" dirty="0">
                <a:solidFill>
                  <a:schemeClr val="tx1"/>
                </a:solidFill>
                <a:effectLst/>
                <a:latin typeface="+mn-lt"/>
                <a:ea typeface="+mn-ea"/>
                <a:cs typeface="+mn-cs"/>
              </a:rPr>
              <a:t>The outputs include two baseline random forest models and two XGBoost models, with one of the XGBoost performing best.</a:t>
            </a:r>
          </a:p>
        </p:txBody>
      </p:sp>
      <p:sp>
        <p:nvSpPr>
          <p:cNvPr id="4" name="Slide Number Placeholder 3"/>
          <p:cNvSpPr>
            <a:spLocks noGrp="1"/>
          </p:cNvSpPr>
          <p:nvPr>
            <p:ph type="sldNum" sz="quarter" idx="5"/>
          </p:nvPr>
        </p:nvSpPr>
        <p:spPr/>
        <p:txBody>
          <a:bodyPr/>
          <a:lstStyle/>
          <a:p>
            <a:fld id="{1C362C09-60B3-6745-A687-DF8C16EEB93D}" type="slidenum">
              <a:rPr lang="en-US" smtClean="0"/>
              <a:t>2</a:t>
            </a:fld>
            <a:endParaRPr lang="en-US"/>
          </a:p>
        </p:txBody>
      </p:sp>
    </p:spTree>
    <p:extLst>
      <p:ext uri="{BB962C8B-B14F-4D97-AF65-F5344CB8AC3E}">
        <p14:creationId xmlns:p14="http://schemas.microsoft.com/office/powerpoint/2010/main" val="306008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kern="1200" dirty="0">
                <a:solidFill>
                  <a:schemeClr val="tx1"/>
                </a:solidFill>
                <a:effectLst/>
                <a:latin typeface="+mn-lt"/>
                <a:ea typeface="+mn-ea"/>
                <a:cs typeface="+mn-cs"/>
              </a:rPr>
              <a:t>The main dataset contained travel metrics that were transformed into stress functions that measured everything from time zones crossed and direction to the total distance and travel time. Other factors included transit type, trip length, return time to campus, and turnaround time before the next trip.</a:t>
            </a:r>
          </a:p>
          <a:p>
            <a:pPr marL="628650" lvl="1" indent="-171450">
              <a:buFontTx/>
              <a:buChar char="-"/>
            </a:pPr>
            <a:r>
              <a:rPr lang="en-US" sz="1200" kern="1200" dirty="0">
                <a:solidFill>
                  <a:schemeClr val="tx1"/>
                </a:solidFill>
                <a:effectLst/>
                <a:latin typeface="+mn-lt"/>
                <a:ea typeface="+mn-ea"/>
                <a:cs typeface="+mn-cs"/>
              </a:rPr>
              <a:t>Trip Score measured the sum of all these variables, which was then used to calculate Daily Residual Travel Load (RTL), which was the fatigue score beginning on the first day home after travel, and Seasonal Cumulative Load (CRTL), which equaled the cumulative sum of RTL across the season.</a:t>
            </a:r>
          </a:p>
          <a:p>
            <a:pPr marL="171450" indent="-171450">
              <a:buFontTx/>
              <a:buChar char="-"/>
            </a:pPr>
            <a:r>
              <a:rPr lang="en-US" sz="1200" kern="1200" dirty="0">
                <a:solidFill>
                  <a:schemeClr val="tx1"/>
                </a:solidFill>
                <a:effectLst/>
                <a:latin typeface="+mn-lt"/>
                <a:ea typeface="+mn-ea"/>
                <a:cs typeface="+mn-cs"/>
              </a:rPr>
              <a:t>The jump performance dataset incorporated four main variables: athlete ID, z-score of peak power, peak power, and date.</a:t>
            </a:r>
          </a:p>
          <a:p>
            <a:pPr marL="628650" lvl="1" indent="-171450">
              <a:buFontTx/>
              <a:buChar char="-"/>
            </a:pPr>
            <a:r>
              <a:rPr lang="en-US" sz="1200" kern="1200" dirty="0">
                <a:solidFill>
                  <a:schemeClr val="tx1"/>
                </a:solidFill>
                <a:effectLst/>
                <a:latin typeface="+mn-lt"/>
                <a:ea typeface="+mn-ea"/>
                <a:cs typeface="+mn-cs"/>
              </a:rPr>
              <a:t>Because peak power varied drastically by body weight and position, z-score of peak power provided a better baseline by capturing variation relative to each athlete’s pre-season average jump score.</a:t>
            </a:r>
          </a:p>
          <a:p>
            <a:pPr marL="171450" lvl="0" indent="-171450">
              <a:buFontTx/>
              <a:buChar char="-"/>
            </a:pPr>
            <a:r>
              <a:rPr lang="en-US" sz="1200" kern="1200" dirty="0">
                <a:solidFill>
                  <a:schemeClr val="tx1"/>
                </a:solidFill>
                <a:effectLst/>
                <a:latin typeface="+mn-lt"/>
                <a:ea typeface="+mn-ea"/>
                <a:cs typeface="+mn-cs"/>
              </a:rPr>
              <a:t>There were a total of 623 pre-season jumps from August 1 until February 4, and 328 in-season jumps from February 5 until April 18.</a:t>
            </a:r>
          </a:p>
        </p:txBody>
      </p:sp>
      <p:sp>
        <p:nvSpPr>
          <p:cNvPr id="4" name="Slide Number Placeholder 3"/>
          <p:cNvSpPr>
            <a:spLocks noGrp="1"/>
          </p:cNvSpPr>
          <p:nvPr>
            <p:ph type="sldNum" sz="quarter" idx="5"/>
          </p:nvPr>
        </p:nvSpPr>
        <p:spPr/>
        <p:txBody>
          <a:bodyPr/>
          <a:lstStyle/>
          <a:p>
            <a:fld id="{1C362C09-60B3-6745-A687-DF8C16EEB93D}" type="slidenum">
              <a:rPr lang="en-US" smtClean="0"/>
              <a:t>3</a:t>
            </a:fld>
            <a:endParaRPr lang="en-US"/>
          </a:p>
        </p:txBody>
      </p:sp>
    </p:spTree>
    <p:extLst>
      <p:ext uri="{BB962C8B-B14F-4D97-AF65-F5344CB8AC3E}">
        <p14:creationId xmlns:p14="http://schemas.microsoft.com/office/powerpoint/2010/main" val="1432560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data split was made on an athlete level because the season was too short for a meaningful temporal split. Leave-one-out cross-validation was used to prevent the model from memorizing patterns specific to athletes seen during training.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Athlete instances were then created from only spring data, and players were clustered into five groups based on response variation from their fall baseline.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resulting clusters represented varying levels of fatigue sensitivity: highly-sensitive, sensitive, moderate-response, resilient, and highly-resilient.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highly-sensitive bucket held those who were most likely to suffer travel fatigue, and the highly-resilient group incorporated players who showed minimal fatigue as the season progressed.</a:t>
            </a:r>
          </a:p>
        </p:txBody>
      </p:sp>
      <p:sp>
        <p:nvSpPr>
          <p:cNvPr id="4" name="Slide Number Placeholder 3"/>
          <p:cNvSpPr>
            <a:spLocks noGrp="1"/>
          </p:cNvSpPr>
          <p:nvPr>
            <p:ph type="sldNum" sz="quarter" idx="5"/>
          </p:nvPr>
        </p:nvSpPr>
        <p:spPr/>
        <p:txBody>
          <a:bodyPr/>
          <a:lstStyle/>
          <a:p>
            <a:fld id="{1C362C09-60B3-6745-A687-DF8C16EEB93D}" type="slidenum">
              <a:rPr lang="en-US" smtClean="0"/>
              <a:t>4</a:t>
            </a:fld>
            <a:endParaRPr lang="en-US"/>
          </a:p>
        </p:txBody>
      </p:sp>
    </p:spTree>
    <p:extLst>
      <p:ext uri="{BB962C8B-B14F-4D97-AF65-F5344CB8AC3E}">
        <p14:creationId xmlns:p14="http://schemas.microsoft.com/office/powerpoint/2010/main" val="1187180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After forming cluster groups, several models predicted which bucket each of the 21 athletes would be classified into.</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XGBoost Model that included RTL and CRTL had the best RMSE, so it is the model I will focus on here.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model outputted an RMSE of 1.48, MAE of 1.04, and R-squared of 0.05.</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These values all indicated weak predictive performance, which was a key issue in the analysis. However, given the small sample size at the athlete level, the model is better suited to signal coaches and administrators toward capabilities with a larger sample size.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top chart shows a sample output from the model, predicting athlete 35’s jump metrics from the first week of the season on.</a:t>
            </a:r>
          </a:p>
        </p:txBody>
      </p:sp>
      <p:sp>
        <p:nvSpPr>
          <p:cNvPr id="4" name="Slide Number Placeholder 3"/>
          <p:cNvSpPr>
            <a:spLocks noGrp="1"/>
          </p:cNvSpPr>
          <p:nvPr>
            <p:ph type="sldNum" sz="quarter" idx="5"/>
          </p:nvPr>
        </p:nvSpPr>
        <p:spPr/>
        <p:txBody>
          <a:bodyPr/>
          <a:lstStyle/>
          <a:p>
            <a:fld id="{1C362C09-60B3-6745-A687-DF8C16EEB93D}" type="slidenum">
              <a:rPr lang="en-US" smtClean="0"/>
              <a:t>5</a:t>
            </a:fld>
            <a:endParaRPr lang="en-US"/>
          </a:p>
        </p:txBody>
      </p:sp>
    </p:spTree>
    <p:extLst>
      <p:ext uri="{BB962C8B-B14F-4D97-AF65-F5344CB8AC3E}">
        <p14:creationId xmlns:p14="http://schemas.microsoft.com/office/powerpoint/2010/main" val="3633480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kern="1200" dirty="0">
                <a:solidFill>
                  <a:schemeClr val="tx1"/>
                </a:solidFill>
                <a:effectLst/>
                <a:latin typeface="+mn-lt"/>
                <a:ea typeface="+mn-ea"/>
                <a:cs typeface="+mn-cs"/>
              </a:rPr>
              <a:t>The most important predictor for the z-score of peak power with an importance of .22 was whether the team took a commercial flight home, followed by the Trip Score with an importance of .15.</a:t>
            </a:r>
          </a:p>
          <a:p>
            <a:pPr marL="171450" indent="-171450">
              <a:buFontTx/>
              <a:buChar char="-"/>
            </a:pPr>
            <a:r>
              <a:rPr lang="en-US" sz="1200" kern="1200" dirty="0">
                <a:solidFill>
                  <a:schemeClr val="tx1"/>
                </a:solidFill>
                <a:effectLst/>
                <a:latin typeface="+mn-lt"/>
                <a:ea typeface="+mn-ea"/>
                <a:cs typeface="+mn-cs"/>
              </a:rPr>
              <a:t>The binary variable of commercial return flight had the most predictive power likely because trips with a commercial flight back also involved a bus ride from Chicago to campus, resulting in a much later return time.</a:t>
            </a:r>
          </a:p>
          <a:p>
            <a:pPr marL="171450" lvl="0" indent="-171450">
              <a:buFontTx/>
              <a:buChar char="-"/>
            </a:pPr>
            <a:r>
              <a:rPr lang="en-US" sz="1200" kern="1200" dirty="0">
                <a:solidFill>
                  <a:schemeClr val="tx1"/>
                </a:solidFill>
                <a:effectLst/>
                <a:latin typeface="+mn-lt"/>
                <a:ea typeface="+mn-ea"/>
                <a:cs typeface="+mn-cs"/>
              </a:rPr>
              <a:t>By contrast, the least predictive variables were whether a commercial flight was taken to the away series and the individual travel functions, like the Logistics Score and Travel Load Score.</a:t>
            </a:r>
          </a:p>
          <a:p>
            <a:pPr marL="628650" lvl="1" indent="-171450">
              <a:buFontTx/>
              <a:buChar char="-"/>
            </a:pPr>
            <a:r>
              <a:rPr lang="en-US" sz="1200" kern="1200" dirty="0">
                <a:solidFill>
                  <a:schemeClr val="tx1"/>
                </a:solidFill>
                <a:effectLst/>
                <a:latin typeface="+mn-lt"/>
                <a:ea typeface="+mn-ea"/>
                <a:cs typeface="+mn-cs"/>
              </a:rPr>
              <a:t>The low scores for these travel functions may have resulted because they were included in the overall Trip Score.</a:t>
            </a:r>
          </a:p>
        </p:txBody>
      </p:sp>
      <p:sp>
        <p:nvSpPr>
          <p:cNvPr id="4" name="Slide Number Placeholder 3"/>
          <p:cNvSpPr>
            <a:spLocks noGrp="1"/>
          </p:cNvSpPr>
          <p:nvPr>
            <p:ph type="sldNum" sz="quarter" idx="5"/>
          </p:nvPr>
        </p:nvSpPr>
        <p:spPr/>
        <p:txBody>
          <a:bodyPr/>
          <a:lstStyle/>
          <a:p>
            <a:fld id="{1C362C09-60B3-6745-A687-DF8C16EEB93D}" type="slidenum">
              <a:rPr lang="en-US" smtClean="0"/>
              <a:t>6</a:t>
            </a:fld>
            <a:endParaRPr lang="en-US"/>
          </a:p>
        </p:txBody>
      </p:sp>
    </p:spTree>
    <p:extLst>
      <p:ext uri="{BB962C8B-B14F-4D97-AF65-F5344CB8AC3E}">
        <p14:creationId xmlns:p14="http://schemas.microsoft.com/office/powerpoint/2010/main" val="149765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For the remaining seven games in the season as of last Tuesday, a prediction model was built to determine each individual’s expected z-score and to flag if the coaching staff should monitor an athlete more closely.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It also shows the CRTL as it accumulates through the rest of the season, providing context for the predicted jump z-scores.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Having the personal experience of living through the last week, I can say that some of my teammates were definitely feeling the accumulated stress of our previous travel trip before midweek games last week, so I would expect that their jumps from last Thursday would align with a dip in performance.</a:t>
            </a:r>
          </a:p>
        </p:txBody>
      </p:sp>
      <p:sp>
        <p:nvSpPr>
          <p:cNvPr id="4" name="Slide Number Placeholder 3"/>
          <p:cNvSpPr>
            <a:spLocks noGrp="1"/>
          </p:cNvSpPr>
          <p:nvPr>
            <p:ph type="sldNum" sz="quarter" idx="5"/>
          </p:nvPr>
        </p:nvSpPr>
        <p:spPr/>
        <p:txBody>
          <a:bodyPr/>
          <a:lstStyle/>
          <a:p>
            <a:fld id="{1C362C09-60B3-6745-A687-DF8C16EEB93D}" type="slidenum">
              <a:rPr lang="en-US" smtClean="0"/>
              <a:t>7</a:t>
            </a:fld>
            <a:endParaRPr lang="en-US"/>
          </a:p>
        </p:txBody>
      </p:sp>
    </p:spTree>
    <p:extLst>
      <p:ext uri="{BB962C8B-B14F-4D97-AF65-F5344CB8AC3E}">
        <p14:creationId xmlns:p14="http://schemas.microsoft.com/office/powerpoint/2010/main" val="3039915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Stakeholders include administrators in the Notre Dame Athletics Department and coaches.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From this information, coaches can form training plans based on the habits of highly-resilient players; for example, fatigue-resistant athletes could share their sleep or nutrition habits with teammates who are more sensitive to travel.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This analysis also suggests that administrators should adjust travel budgets to allow for charter flights home from tournaments, even if it means flying commercially to more competition sites.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Because variables like RTL and CRTL did not meaningfully improve model performance, it suggests that accumulated load may be less informative than immediate recovery conditions.</a:t>
            </a:r>
          </a:p>
        </p:txBody>
      </p:sp>
      <p:sp>
        <p:nvSpPr>
          <p:cNvPr id="4" name="Slide Number Placeholder 3"/>
          <p:cNvSpPr>
            <a:spLocks noGrp="1"/>
          </p:cNvSpPr>
          <p:nvPr>
            <p:ph type="sldNum" sz="quarter" idx="5"/>
          </p:nvPr>
        </p:nvSpPr>
        <p:spPr/>
        <p:txBody>
          <a:bodyPr/>
          <a:lstStyle/>
          <a:p>
            <a:fld id="{1C362C09-60B3-6745-A687-DF8C16EEB93D}" type="slidenum">
              <a:rPr lang="en-US" smtClean="0"/>
              <a:t>8</a:t>
            </a:fld>
            <a:endParaRPr lang="en-US"/>
          </a:p>
        </p:txBody>
      </p:sp>
    </p:spTree>
    <p:extLst>
      <p:ext uri="{BB962C8B-B14F-4D97-AF65-F5344CB8AC3E}">
        <p14:creationId xmlns:p14="http://schemas.microsoft.com/office/powerpoint/2010/main" val="402792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kern="1200" dirty="0">
                <a:solidFill>
                  <a:schemeClr val="tx1"/>
                </a:solidFill>
                <a:effectLst/>
                <a:latin typeface="+mn-lt"/>
                <a:ea typeface="+mn-ea"/>
                <a:cs typeface="+mn-cs"/>
              </a:rPr>
              <a:t>With more time and data, the analysis could emphasize ACC competition travel, which carries more importance than pre-season games.</a:t>
            </a:r>
          </a:p>
          <a:p>
            <a:pPr marL="171450" indent="-171450">
              <a:buFontTx/>
              <a:buChar char="-"/>
            </a:pPr>
            <a:r>
              <a:rPr lang="en-US" sz="1200" kern="1200" dirty="0">
                <a:solidFill>
                  <a:schemeClr val="tx1"/>
                </a:solidFill>
                <a:effectLst/>
                <a:latin typeface="+mn-lt"/>
                <a:ea typeface="+mn-ea"/>
                <a:cs typeface="+mn-cs"/>
              </a:rPr>
              <a:t>Additionally, incorporating variables, such as academic workload and opponent strength, would provide a more complete picture of performance variation.</a:t>
            </a:r>
          </a:p>
          <a:p>
            <a:pPr marL="628650" lvl="1" indent="-171450">
              <a:buFontTx/>
              <a:buChar char="-"/>
            </a:pPr>
            <a:r>
              <a:rPr lang="en-US" sz="1200" kern="1200" dirty="0">
                <a:solidFill>
                  <a:schemeClr val="tx1"/>
                </a:solidFill>
                <a:effectLst/>
                <a:latin typeface="+mn-lt"/>
                <a:ea typeface="+mn-ea"/>
                <a:cs typeface="+mn-cs"/>
              </a:rPr>
              <a:t>Introducing an injury flag would also help control for athletes who may be classified as fatigue-sensitive due to physical pain rather than travel effects.</a:t>
            </a:r>
          </a:p>
          <a:p>
            <a:pPr marL="171450" indent="-171450">
              <a:buFontTx/>
              <a:buChar char="-"/>
            </a:pPr>
            <a:r>
              <a:rPr lang="en-US" sz="1200" kern="1200" dirty="0">
                <a:solidFill>
                  <a:schemeClr val="tx1"/>
                </a:solidFill>
                <a:effectLst/>
                <a:latin typeface="+mn-lt"/>
                <a:ea typeface="+mn-ea"/>
                <a:cs typeface="+mn-cs"/>
              </a:rPr>
              <a:t>Overall, while predictive performance remains limited, this study establishes a foundation for recognizing how travel logistics impact athlete performance.</a:t>
            </a:r>
            <a:endParaRPr lang="en-US" dirty="0"/>
          </a:p>
        </p:txBody>
      </p:sp>
      <p:sp>
        <p:nvSpPr>
          <p:cNvPr id="4" name="Slide Number Placeholder 3"/>
          <p:cNvSpPr>
            <a:spLocks noGrp="1"/>
          </p:cNvSpPr>
          <p:nvPr>
            <p:ph type="sldNum" sz="quarter" idx="5"/>
          </p:nvPr>
        </p:nvSpPr>
        <p:spPr/>
        <p:txBody>
          <a:bodyPr/>
          <a:lstStyle/>
          <a:p>
            <a:fld id="{1C362C09-60B3-6745-A687-DF8C16EEB93D}" type="slidenum">
              <a:rPr lang="en-US" smtClean="0"/>
              <a:t>9</a:t>
            </a:fld>
            <a:endParaRPr lang="en-US"/>
          </a:p>
        </p:txBody>
      </p:sp>
    </p:spTree>
    <p:extLst>
      <p:ext uri="{BB962C8B-B14F-4D97-AF65-F5344CB8AC3E}">
        <p14:creationId xmlns:p14="http://schemas.microsoft.com/office/powerpoint/2010/main" val="3552815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362C09-60B3-6745-A687-DF8C16EEB93D}" type="slidenum">
              <a:rPr lang="en-US" smtClean="0"/>
              <a:t>10</a:t>
            </a:fld>
            <a:endParaRPr lang="en-US"/>
          </a:p>
        </p:txBody>
      </p:sp>
    </p:spTree>
    <p:extLst>
      <p:ext uri="{BB962C8B-B14F-4D97-AF65-F5344CB8AC3E}">
        <p14:creationId xmlns:p14="http://schemas.microsoft.com/office/powerpoint/2010/main" val="3971693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28600" y="167760"/>
            <a:ext cx="3256200" cy="156096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 name="PlaceHolder 2"/>
          <p:cNvSpPr>
            <a:spLocks noGrp="1"/>
          </p:cNvSpPr>
          <p:nvPr>
            <p:ph type="sldNum" idx="1"/>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5C9F6741-870C-4520-8571-021E33790F7F}"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9_1_1">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3343320" y="3076200"/>
            <a:ext cx="3400200" cy="185580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6" name="PlaceHolder 2"/>
          <p:cNvSpPr>
            <a:spLocks noGrp="1"/>
          </p:cNvSpPr>
          <p:nvPr>
            <p:ph type="sldNum" idx="2"/>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3C8756A2-A302-4F81-BB4D-C6E0C6F5691D}"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228600" y="210240"/>
            <a:ext cx="4539960" cy="109332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9" name="PlaceHolder 2"/>
          <p:cNvSpPr>
            <a:spLocks noGrp="1"/>
          </p:cNvSpPr>
          <p:nvPr>
            <p:ph type="body"/>
          </p:nvPr>
        </p:nvSpPr>
        <p:spPr>
          <a:xfrm>
            <a:off x="343080" y="2571840"/>
            <a:ext cx="3141720" cy="2234520"/>
          </a:xfrm>
          <a:prstGeom prst="rect">
            <a:avLst/>
          </a:prstGeom>
          <a:noFill/>
          <a:ln w="0">
            <a:noFill/>
          </a:ln>
        </p:spPr>
        <p:txBody>
          <a:bodyPr lIns="90000" tIns="45000" rIns="90000" bIns="45000" anchor="t">
            <a:normAutofit fontScale="3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0" name="PlaceHolder 3"/>
          <p:cNvSpPr>
            <a:spLocks noGrp="1"/>
          </p:cNvSpPr>
          <p:nvPr>
            <p:ph type="sldNum" idx="3"/>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1B35C294-9E4F-467B-9C4B-AC72504B7B5B}"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228600" y="228600"/>
            <a:ext cx="3800160" cy="1058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2" name="PlaceHolder 2"/>
          <p:cNvSpPr>
            <a:spLocks noGrp="1"/>
          </p:cNvSpPr>
          <p:nvPr>
            <p:ph type="sldNum" idx="4"/>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fld id="{FA3DA6C1-ECA9-463E-9877-1387E880025C}"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13" name="Google Shape;111;p20"/>
          <p:cNvSpPr/>
          <p:nvPr/>
        </p:nvSpPr>
        <p:spPr>
          <a:xfrm>
            <a:off x="5655600" y="3925440"/>
            <a:ext cx="324648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just" defTabSz="914400">
              <a:lnSpc>
                <a:spcPct val="100000"/>
              </a:lnSpc>
              <a:spcBef>
                <a:spcPts val="300"/>
              </a:spcBef>
              <a:tabLst>
                <a:tab pos="0" algn="l"/>
              </a:tabLst>
            </a:pPr>
            <a:r>
              <a:rPr lang="en" sz="1000" b="1" u="none" strike="noStrike">
                <a:solidFill>
                  <a:schemeClr val="dk1"/>
                </a:solidFill>
                <a:effectLst/>
                <a:uFillTx/>
                <a:latin typeface="Spline Sans"/>
                <a:ea typeface="Spline Sans"/>
              </a:rPr>
              <a:t>CREDITS:</a:t>
            </a:r>
            <a:r>
              <a:rPr lang="en" sz="1000" b="0" u="none" strike="noStrike">
                <a:solidFill>
                  <a:schemeClr val="dk1"/>
                </a:solidFill>
                <a:effectLst/>
                <a:uFillTx/>
                <a:latin typeface="Spline Sans"/>
                <a:ea typeface="Spline Sans"/>
              </a:rPr>
              <a:t> This presentation template was created by </a:t>
            </a:r>
            <a:r>
              <a:rPr lang="en" sz="1000" b="1" u="sng" strike="noStrike">
                <a:solidFill>
                  <a:schemeClr val="hlink"/>
                </a:solidFill>
                <a:effectLst/>
                <a:uFillTx/>
                <a:latin typeface="Spline Sans"/>
                <a:ea typeface="Spline Sans"/>
                <a:hlinkClick r:id="rId2"/>
              </a:rPr>
              <a:t>Slidesgo</a:t>
            </a:r>
            <a:r>
              <a:rPr lang="en" sz="1000" b="0" u="none" strike="noStrike">
                <a:solidFill>
                  <a:schemeClr val="dk1"/>
                </a:solidFill>
                <a:effectLst/>
                <a:uFillTx/>
                <a:latin typeface="Spline Sans"/>
                <a:ea typeface="Spline Sans"/>
              </a:rPr>
              <a:t>, and includes icons, infographics &amp; images by </a:t>
            </a:r>
            <a:r>
              <a:rPr lang="en" sz="1000" b="1" u="sng" strike="noStrike">
                <a:solidFill>
                  <a:schemeClr val="dk1"/>
                </a:solidFill>
                <a:effectLst/>
                <a:uFillTx/>
                <a:latin typeface="Spline Sans"/>
                <a:ea typeface="Spline Sans"/>
                <a:hlinkClick r:id="rId3"/>
              </a:rPr>
              <a:t>Freepik</a:t>
            </a:r>
            <a:r>
              <a:rPr lang="en" sz="1000" b="0" u="sng" strike="noStrike">
                <a:solidFill>
                  <a:schemeClr val="dk1"/>
                </a:solidFill>
                <a:effectLst/>
                <a:uFillTx/>
                <a:latin typeface="Spline Sans"/>
                <a:ea typeface="Spline Sans"/>
              </a:rPr>
              <a:t> </a:t>
            </a:r>
            <a:endParaRPr lang="en-US" sz="1000" b="0" u="none" strike="noStrike">
              <a:solidFill>
                <a:srgbClr val="000000"/>
              </a:solidFill>
              <a:effectLst/>
              <a:uFillTx/>
              <a:latin typeface="OpenSymbol"/>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28600" y="209520"/>
            <a:ext cx="7600680" cy="572400"/>
          </a:xfrm>
          <a:prstGeom prst="rect">
            <a:avLst/>
          </a:prstGeom>
          <a:noFill/>
          <a:ln w="0">
            <a:noFill/>
          </a:ln>
        </p:spPr>
        <p:txBody>
          <a:bodyPr lIns="91440" tIns="91440" rIns="91440" bIns="91440" anchor="t">
            <a:noAutofit/>
          </a:bodyPr>
          <a:lstStyle/>
          <a:p>
            <a:pPr indent="0">
              <a:buNone/>
            </a:pPr>
            <a:r>
              <a:rPr lang="fr-FR" sz="2000" b="0" u="none" strike="noStrike">
                <a:solidFill>
                  <a:schemeClr val="dk1"/>
                </a:solidFill>
                <a:effectLst/>
                <a:uFillTx/>
                <a:latin typeface="Arial"/>
              </a:rPr>
              <a:t>Click to edit the title text format</a:t>
            </a:r>
          </a:p>
        </p:txBody>
      </p:sp>
      <p:sp>
        <p:nvSpPr>
          <p:cNvPr id="15" name="PlaceHolder 2"/>
          <p:cNvSpPr>
            <a:spLocks noGrp="1"/>
          </p:cNvSpPr>
          <p:nvPr>
            <p:ph type="sldNum" idx="5"/>
          </p:nvPr>
        </p:nvSpPr>
        <p:spPr>
          <a:xfrm>
            <a:off x="7829640" y="228600"/>
            <a:ext cx="1085760" cy="393120"/>
          </a:xfrm>
          <a:prstGeom prst="rect">
            <a:avLst/>
          </a:prstGeom>
          <a:noFill/>
          <a:ln w="0">
            <a:noFill/>
          </a:ln>
        </p:spPr>
        <p:txBody>
          <a:bodyPr lIns="91440" tIns="91440" rIns="91440" bIns="91440" anchor="t">
            <a:noAutofit/>
          </a:bodyPr>
          <a:lstStyle>
            <a:lvl1pPr indent="0" defTabSz="914400">
              <a:lnSpc>
                <a:spcPct val="100000"/>
              </a:lnSpc>
              <a:buNone/>
              <a:tabLst>
                <a:tab pos="0" algn="l"/>
              </a:tabLst>
              <a:defRPr lang="en" sz="1600" b="0" u="none" strike="noStrike">
                <a:solidFill>
                  <a:schemeClr val="accent1"/>
                </a:solidFill>
                <a:effectLst/>
                <a:uFillTx/>
                <a:latin typeface="Gloock"/>
                <a:ea typeface="Gloock"/>
              </a:defRPr>
            </a:lvl1pPr>
          </a:lstStyle>
          <a:p>
            <a:pPr indent="0" defTabSz="914400">
              <a:lnSpc>
                <a:spcPct val="100000"/>
              </a:lnSpc>
              <a:buNone/>
              <a:tabLst>
                <a:tab pos="0" algn="l"/>
              </a:tabLst>
            </a:pPr>
            <a:r>
              <a:rPr lang="en" sz="1600" b="0" u="none" strike="noStrike">
                <a:solidFill>
                  <a:schemeClr val="accent1"/>
                </a:solidFill>
                <a:effectLst/>
                <a:uFillTx/>
                <a:latin typeface="Gloock"/>
                <a:ea typeface="Gloock"/>
              </a:rPr>
              <a:t>0</a:t>
            </a:r>
            <a:fld id="{C84924C9-8C76-4CAD-BC28-F2ACF8927BAC}" type="slidenum">
              <a:rPr lang="en" sz="1600" b="0" u="none" strike="noStrike">
                <a:solidFill>
                  <a:schemeClr val="accent1"/>
                </a:solidFill>
                <a:effectLst/>
                <a:uFillTx/>
                <a:latin typeface="Gloock"/>
                <a:ea typeface="Gloock"/>
              </a:rPr>
              <a:t>‹#›</a:t>
            </a:fld>
            <a:r>
              <a:rPr lang="en" sz="1600" b="0" u="none" strike="noStrike">
                <a:solidFill>
                  <a:schemeClr val="accent1"/>
                </a:solidFill>
                <a:effectLst/>
                <a:uFillTx/>
                <a:latin typeface="Gloock"/>
                <a:ea typeface="Gloock"/>
              </a:rPr>
              <a:t>.</a:t>
            </a:r>
            <a:endParaRPr lang="en-US" sz="1600" b="0" u="none" strike="noStrike">
              <a:solidFill>
                <a:srgbClr val="000000"/>
              </a:solidFill>
              <a:effectLst/>
              <a:uFillTx/>
              <a:latin typeface="OpenSymbol"/>
            </a:endParaRPr>
          </a:p>
        </p:txBody>
      </p:sp>
      <p:sp>
        <p:nvSpPr>
          <p:cNvPr id="1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p:push/>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oogle Shape;145;p27"/>
          <p:cNvGrpSpPr/>
          <p:nvPr/>
        </p:nvGrpSpPr>
        <p:grpSpPr>
          <a:xfrm>
            <a:off x="212760" y="236520"/>
            <a:ext cx="8692920" cy="4674600"/>
            <a:chOff x="212760" y="236520"/>
            <a:chExt cx="8692920" cy="4674600"/>
          </a:xfrm>
        </p:grpSpPr>
        <p:cxnSp>
          <p:nvCxnSpPr>
            <p:cNvPr id="18" name="Google Shape;146;p27"/>
            <p:cNvCxnSpPr/>
            <p:nvPr/>
          </p:nvCxnSpPr>
          <p:spPr>
            <a:xfrm>
              <a:off x="4568040" y="2685960"/>
              <a:ext cx="360" cy="2225520"/>
            </a:xfrm>
            <a:prstGeom prst="straightConnector1">
              <a:avLst/>
            </a:prstGeom>
            <a:ln w="9525">
              <a:solidFill>
                <a:srgbClr val="A92422"/>
              </a:solidFill>
              <a:round/>
            </a:ln>
          </p:spPr>
        </p:cxnSp>
        <p:cxnSp>
          <p:nvCxnSpPr>
            <p:cNvPr id="19" name="Google Shape;147;p27"/>
            <p:cNvCxnSpPr/>
            <p:nvPr/>
          </p:nvCxnSpPr>
          <p:spPr>
            <a:xfrm>
              <a:off x="4568040" y="2457360"/>
              <a:ext cx="360" cy="228960"/>
            </a:xfrm>
            <a:prstGeom prst="straightConnector1">
              <a:avLst/>
            </a:prstGeom>
            <a:ln w="9525">
              <a:solidFill>
                <a:srgbClr val="A92422"/>
              </a:solidFill>
              <a:prstDash val="dot"/>
              <a:round/>
            </a:ln>
          </p:spPr>
        </p:cxnSp>
        <p:cxnSp>
          <p:nvCxnSpPr>
            <p:cNvPr id="20" name="Google Shape;148;p27"/>
            <p:cNvCxnSpPr/>
            <p:nvPr/>
          </p:nvCxnSpPr>
          <p:spPr>
            <a:xfrm>
              <a:off x="4464720" y="2571480"/>
              <a:ext cx="228960" cy="360"/>
            </a:xfrm>
            <a:prstGeom prst="straightConnector1">
              <a:avLst/>
            </a:prstGeom>
            <a:ln w="9525">
              <a:solidFill>
                <a:srgbClr val="A92422"/>
              </a:solidFill>
              <a:prstDash val="dot"/>
              <a:round/>
            </a:ln>
          </p:spPr>
        </p:cxnSp>
        <p:cxnSp>
          <p:nvCxnSpPr>
            <p:cNvPr id="21" name="Google Shape;149;p27"/>
            <p:cNvCxnSpPr/>
            <p:nvPr/>
          </p:nvCxnSpPr>
          <p:spPr>
            <a:xfrm>
              <a:off x="4568040" y="236520"/>
              <a:ext cx="360" cy="2221200"/>
            </a:xfrm>
            <a:prstGeom prst="straightConnector1">
              <a:avLst/>
            </a:prstGeom>
            <a:ln w="9525">
              <a:solidFill>
                <a:srgbClr val="A92422"/>
              </a:solidFill>
              <a:round/>
            </a:ln>
          </p:spPr>
        </p:cxnSp>
        <p:cxnSp>
          <p:nvCxnSpPr>
            <p:cNvPr id="22" name="Google Shape;150;p27"/>
            <p:cNvCxnSpPr/>
            <p:nvPr/>
          </p:nvCxnSpPr>
          <p:spPr>
            <a:xfrm>
              <a:off x="212760" y="2571480"/>
              <a:ext cx="4252320" cy="360"/>
            </a:xfrm>
            <a:prstGeom prst="straightConnector1">
              <a:avLst/>
            </a:prstGeom>
            <a:ln w="9525">
              <a:solidFill>
                <a:srgbClr val="A92422"/>
              </a:solidFill>
              <a:round/>
            </a:ln>
          </p:spPr>
        </p:cxnSp>
        <p:cxnSp>
          <p:nvCxnSpPr>
            <p:cNvPr id="23" name="Google Shape;151;p27"/>
            <p:cNvCxnSpPr/>
            <p:nvPr/>
          </p:nvCxnSpPr>
          <p:spPr>
            <a:xfrm>
              <a:off x="4693320" y="2571480"/>
              <a:ext cx="4212720" cy="360"/>
            </a:xfrm>
            <a:prstGeom prst="straightConnector1">
              <a:avLst/>
            </a:prstGeom>
            <a:ln w="9525">
              <a:solidFill>
                <a:srgbClr val="A92422"/>
              </a:solidFill>
              <a:round/>
            </a:ln>
          </p:spPr>
        </p:cxnSp>
      </p:grpSp>
      <p:sp>
        <p:nvSpPr>
          <p:cNvPr id="24" name="PlaceHolder 1"/>
          <p:cNvSpPr>
            <a:spLocks noGrp="1"/>
          </p:cNvSpPr>
          <p:nvPr>
            <p:ph type="title"/>
          </p:nvPr>
        </p:nvSpPr>
        <p:spPr>
          <a:xfrm>
            <a:off x="228600" y="171360"/>
            <a:ext cx="3257280" cy="1561680"/>
          </a:xfrm>
          <a:prstGeom prst="rect">
            <a:avLst/>
          </a:prstGeom>
          <a:noFill/>
          <a:ln w="0">
            <a:noFill/>
          </a:ln>
        </p:spPr>
        <p:txBody>
          <a:bodyPr lIns="91440" tIns="91440" rIns="91440" bIns="91440" anchor="t">
            <a:noAutofit/>
          </a:bodyPr>
          <a:lstStyle/>
          <a:p>
            <a:r>
              <a:rPr lang="en-US" sz="3200" dirty="0"/>
              <a:t>The Impact of Travel Fatigue on College Athlete Performance</a:t>
            </a:r>
          </a:p>
        </p:txBody>
      </p:sp>
      <p:sp>
        <p:nvSpPr>
          <p:cNvPr id="27" name="Google Shape;155;p27"/>
          <p:cNvSpPr/>
          <p:nvPr/>
        </p:nvSpPr>
        <p:spPr>
          <a:xfrm>
            <a:off x="343080" y="4520326"/>
            <a:ext cx="1996704" cy="38647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 sz="1600" b="0" u="none" strike="noStrike" dirty="0">
                <a:solidFill>
                  <a:schemeClr val="accent1"/>
                </a:solidFill>
                <a:effectLst/>
                <a:uFillTx/>
                <a:latin typeface="Arial"/>
              </a:rPr>
              <a:t>By: Ashley Marietta</a:t>
            </a:r>
            <a:endParaRPr lang="en-US" sz="1600" b="0" u="none" strike="noStrike" dirty="0">
              <a:solidFill>
                <a:srgbClr val="000000"/>
              </a:solidFill>
              <a:effectLst/>
              <a:uFillTx/>
              <a:latin typeface="OpenSymbol"/>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oogle Shape;278;p33"/>
          <p:cNvGrpSpPr/>
          <p:nvPr/>
        </p:nvGrpSpPr>
        <p:grpSpPr>
          <a:xfrm>
            <a:off x="228600" y="225000"/>
            <a:ext cx="8686800" cy="4689720"/>
            <a:chOff x="228600" y="225000"/>
            <a:chExt cx="8686800" cy="4689720"/>
          </a:xfrm>
        </p:grpSpPr>
        <p:cxnSp>
          <p:nvCxnSpPr>
            <p:cNvPr id="29" name="Google Shape;279;p33"/>
            <p:cNvCxnSpPr/>
            <p:nvPr/>
          </p:nvCxnSpPr>
          <p:spPr>
            <a:xfrm>
              <a:off x="4024080" y="1901880"/>
              <a:ext cx="360" cy="3013200"/>
            </a:xfrm>
            <a:prstGeom prst="straightConnector1">
              <a:avLst/>
            </a:prstGeom>
            <a:ln w="9525">
              <a:solidFill>
                <a:srgbClr val="A92422"/>
              </a:solidFill>
              <a:round/>
            </a:ln>
          </p:spPr>
        </p:cxnSp>
        <p:cxnSp>
          <p:nvCxnSpPr>
            <p:cNvPr id="30" name="Google Shape;280;p33"/>
            <p:cNvCxnSpPr/>
            <p:nvPr/>
          </p:nvCxnSpPr>
          <p:spPr>
            <a:xfrm>
              <a:off x="4024080" y="1673280"/>
              <a:ext cx="360" cy="228960"/>
            </a:xfrm>
            <a:prstGeom prst="straightConnector1">
              <a:avLst/>
            </a:prstGeom>
            <a:ln w="9525">
              <a:solidFill>
                <a:srgbClr val="A92422"/>
              </a:solidFill>
              <a:prstDash val="dot"/>
              <a:round/>
            </a:ln>
          </p:spPr>
        </p:cxnSp>
        <p:cxnSp>
          <p:nvCxnSpPr>
            <p:cNvPr id="31" name="Google Shape;281;p33"/>
            <p:cNvCxnSpPr/>
            <p:nvPr/>
          </p:nvCxnSpPr>
          <p:spPr>
            <a:xfrm>
              <a:off x="3920760" y="1787760"/>
              <a:ext cx="228960" cy="360"/>
            </a:xfrm>
            <a:prstGeom prst="straightConnector1">
              <a:avLst/>
            </a:prstGeom>
            <a:ln w="9525">
              <a:solidFill>
                <a:srgbClr val="A92422"/>
              </a:solidFill>
              <a:prstDash val="dot"/>
              <a:round/>
            </a:ln>
          </p:spPr>
        </p:cxnSp>
        <p:cxnSp>
          <p:nvCxnSpPr>
            <p:cNvPr id="32" name="Google Shape;282;p33"/>
            <p:cNvCxnSpPr/>
            <p:nvPr/>
          </p:nvCxnSpPr>
          <p:spPr>
            <a:xfrm>
              <a:off x="4023000" y="225000"/>
              <a:ext cx="1440" cy="1448640"/>
            </a:xfrm>
            <a:prstGeom prst="straightConnector1">
              <a:avLst/>
            </a:prstGeom>
            <a:ln w="9525">
              <a:solidFill>
                <a:srgbClr val="A92422"/>
              </a:solidFill>
              <a:round/>
            </a:ln>
          </p:spPr>
        </p:cxnSp>
        <p:cxnSp>
          <p:nvCxnSpPr>
            <p:cNvPr id="33" name="Google Shape;283;p33"/>
            <p:cNvCxnSpPr/>
            <p:nvPr/>
          </p:nvCxnSpPr>
          <p:spPr>
            <a:xfrm>
              <a:off x="228600" y="1787760"/>
              <a:ext cx="3692880" cy="360"/>
            </a:xfrm>
            <a:prstGeom prst="straightConnector1">
              <a:avLst/>
            </a:prstGeom>
            <a:ln w="9525">
              <a:solidFill>
                <a:srgbClr val="A92422"/>
              </a:solidFill>
              <a:round/>
            </a:ln>
          </p:spPr>
        </p:cxnSp>
        <p:cxnSp>
          <p:nvCxnSpPr>
            <p:cNvPr id="34" name="Google Shape;284;p33"/>
            <p:cNvCxnSpPr/>
            <p:nvPr/>
          </p:nvCxnSpPr>
          <p:spPr>
            <a:xfrm>
              <a:off x="4149360" y="1787760"/>
              <a:ext cx="4766400" cy="360"/>
            </a:xfrm>
            <a:prstGeom prst="straightConnector1">
              <a:avLst/>
            </a:prstGeom>
            <a:ln w="9525">
              <a:solidFill>
                <a:srgbClr val="A92422"/>
              </a:solidFill>
              <a:round/>
            </a:ln>
          </p:spPr>
        </p:cxnSp>
      </p:grpSp>
      <p:sp>
        <p:nvSpPr>
          <p:cNvPr id="35" name="PlaceHolder 1"/>
          <p:cNvSpPr>
            <a:spLocks noGrp="1"/>
          </p:cNvSpPr>
          <p:nvPr>
            <p:ph type="title"/>
          </p:nvPr>
        </p:nvSpPr>
        <p:spPr>
          <a:xfrm>
            <a:off x="228600" y="209520"/>
            <a:ext cx="45432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200" b="0" u="none" strike="noStrike" dirty="0">
                <a:solidFill>
                  <a:schemeClr val="dk1"/>
                </a:solidFill>
                <a:effectLst/>
                <a:uFillTx/>
                <a:latin typeface="Spline Sans"/>
                <a:ea typeface="Spline Sans"/>
              </a:rPr>
              <a:t>Introduction</a:t>
            </a:r>
            <a:endParaRPr lang="fr-FR" sz="2000" b="0" u="none" strike="noStrike" dirty="0">
              <a:solidFill>
                <a:schemeClr val="dk1"/>
              </a:solidFill>
              <a:effectLst/>
              <a:uFillTx/>
              <a:latin typeface="Arial"/>
            </a:endParaRPr>
          </a:p>
        </p:txBody>
      </p:sp>
      <p:sp>
        <p:nvSpPr>
          <p:cNvPr id="36" name="PlaceHolder 2"/>
          <p:cNvSpPr>
            <a:spLocks noGrp="1"/>
          </p:cNvSpPr>
          <p:nvPr>
            <p:ph type="subTitle"/>
          </p:nvPr>
        </p:nvSpPr>
        <p:spPr>
          <a:xfrm>
            <a:off x="4149360" y="2571750"/>
            <a:ext cx="4295520" cy="1904760"/>
          </a:xfrm>
          <a:prstGeom prst="rect">
            <a:avLst/>
          </a:prstGeom>
          <a:noFill/>
          <a:ln w="0">
            <a:noFill/>
          </a:ln>
        </p:spPr>
        <p:txBody>
          <a:bodyPr lIns="91440" tIns="91440" rIns="91440" bIns="91440" anchor="b">
            <a:normAutofit lnSpcReduction="10000"/>
          </a:bodyPr>
          <a:lstStyle/>
          <a:p>
            <a:pPr marL="171450" indent="-171450" algn="just">
              <a:lnSpc>
                <a:spcPct val="150000"/>
              </a:lnSpc>
              <a:buFont typeface="Arial" panose="020B0604020202020204" pitchFamily="34" charset="0"/>
              <a:buChar char="•"/>
              <a:tabLst>
                <a:tab pos="0" algn="l"/>
              </a:tabLst>
            </a:pPr>
            <a:r>
              <a:rPr lang="en-US" sz="1600" b="0" u="none" strike="noStrike" dirty="0">
                <a:solidFill>
                  <a:schemeClr val="dk1"/>
                </a:solidFill>
                <a:effectLst/>
                <a:uFillTx/>
                <a:latin typeface="Spline Sans"/>
                <a:ea typeface="Spline Sans"/>
              </a:rPr>
              <a:t>Problem: increase in long-distance travel</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rPr>
              <a:t>Objective: cluster student-athletes based on response to travel stress</a:t>
            </a:r>
            <a:endParaRPr lang="en-US" sz="1600" b="0" u="none" strike="noStrike" dirty="0">
              <a:solidFill>
                <a:srgbClr val="000000"/>
              </a:solidFill>
              <a:effectLst/>
              <a:uFillTx/>
              <a:latin typeface="OpenSymbol"/>
            </a:endParaRPr>
          </a:p>
          <a:p>
            <a:pPr marL="171450" indent="-171450" algn="just">
              <a:lnSpc>
                <a:spcPct val="150000"/>
              </a:lnSpc>
              <a:buFont typeface="Arial" panose="020B0604020202020204" pitchFamily="34" charset="0"/>
              <a:buChar char="•"/>
              <a:tabLst>
                <a:tab pos="0" algn="l"/>
              </a:tabLst>
            </a:pPr>
            <a:r>
              <a:rPr lang="en-US" sz="1600" b="0" u="none" strike="noStrike" dirty="0">
                <a:solidFill>
                  <a:schemeClr val="dk1"/>
                </a:solidFill>
                <a:effectLst/>
                <a:uFillTx/>
                <a:latin typeface="Spline Sans"/>
                <a:ea typeface="Spline Sans"/>
              </a:rPr>
              <a:t>Output: XGBoost model to predict cluster assignment</a:t>
            </a:r>
            <a:endParaRPr lang="en-US" sz="1600" b="0" u="none" strike="noStrike" dirty="0">
              <a:solidFill>
                <a:srgbClr val="000000"/>
              </a:solidFill>
              <a:effectLst/>
              <a:uFillTx/>
              <a:latin typeface="OpenSymbol"/>
            </a:endParaRPr>
          </a:p>
        </p:txBody>
      </p:sp>
      <p:pic>
        <p:nvPicPr>
          <p:cNvPr id="2" name="Picture 1" descr="Notre Dame Softball (@NDSoftball ...">
            <a:extLst>
              <a:ext uri="{FF2B5EF4-FFF2-40B4-BE49-F238E27FC236}">
                <a16:creationId xmlns:a16="http://schemas.microsoft.com/office/drawing/2014/main" id="{2D00F54E-FEC5-5822-BDDC-2F1633F29EBE}"/>
              </a:ext>
            </a:extLst>
          </p:cNvPr>
          <p:cNvPicPr>
            <a:picLocks noChangeAspect="1"/>
          </p:cNvPicPr>
          <p:nvPr/>
        </p:nvPicPr>
        <p:blipFill>
          <a:blip r:embed="rId3"/>
          <a:stretch>
            <a:fillRect/>
          </a:stretch>
        </p:blipFill>
        <p:spPr>
          <a:xfrm>
            <a:off x="7421040" y="226800"/>
            <a:ext cx="1446480" cy="1446480"/>
          </a:xfrm>
          <a:prstGeom prst="rect">
            <a:avLst/>
          </a:prstGeom>
        </p:spPr>
      </p:pic>
      <p:pic>
        <p:nvPicPr>
          <p:cNvPr id="3" name="Picture 2" descr="Irish Softball Announces 2026 Schedule – Notre Dame Fighting Irish –  Official Athletics Website">
            <a:extLst>
              <a:ext uri="{FF2B5EF4-FFF2-40B4-BE49-F238E27FC236}">
                <a16:creationId xmlns:a16="http://schemas.microsoft.com/office/drawing/2014/main" id="{A76CA06E-5E89-25AB-16A7-E3CE6EEAAA97}"/>
              </a:ext>
            </a:extLst>
          </p:cNvPr>
          <p:cNvPicPr>
            <a:picLocks noChangeAspect="1"/>
          </p:cNvPicPr>
          <p:nvPr/>
        </p:nvPicPr>
        <p:blipFill>
          <a:blip r:embed="rId4"/>
          <a:srcRect l="28905" r="28203"/>
          <a:stretch>
            <a:fillRect/>
          </a:stretch>
        </p:blipFill>
        <p:spPr>
          <a:xfrm>
            <a:off x="215487" y="1899495"/>
            <a:ext cx="2330021" cy="3055682"/>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 calcmode="lin" valueType="num">
                                      <p:cBhvr additive="base">
                                        <p:cTn id="7"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
                                            <p:txEl>
                                              <p:pRg st="1" end="1"/>
                                            </p:txEl>
                                          </p:spTgt>
                                        </p:tgtEl>
                                        <p:attrNameLst>
                                          <p:attrName>style.visibility</p:attrName>
                                        </p:attrNameLst>
                                      </p:cBhvr>
                                      <p:to>
                                        <p:strVal val="visible"/>
                                      </p:to>
                                    </p:set>
                                    <p:anim calcmode="lin" valueType="num">
                                      <p:cBhvr additive="base">
                                        <p:cTn id="13" dur="500" fill="hold"/>
                                        <p:tgtEl>
                                          <p:spTgt spid="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
                                            <p:txEl>
                                              <p:pRg st="2" end="2"/>
                                            </p:txEl>
                                          </p:spTgt>
                                        </p:tgtEl>
                                        <p:attrNameLst>
                                          <p:attrName>style.visibility</p:attrName>
                                        </p:attrNameLst>
                                      </p:cBhvr>
                                      <p:to>
                                        <p:strVal val="visible"/>
                                      </p:to>
                                    </p:set>
                                    <p:anim calcmode="lin" valueType="num">
                                      <p:cBhvr additive="base">
                                        <p:cTn id="19" dur="500" fill="hold"/>
                                        <p:tgtEl>
                                          <p:spTgt spid="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a:xfrm>
            <a:off x="5025978" y="1636531"/>
            <a:ext cx="2869086" cy="93825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0" u="none" strike="noStrike" dirty="0">
                <a:solidFill>
                  <a:schemeClr val="dk1"/>
                </a:solidFill>
                <a:effectLst/>
                <a:uFillTx/>
                <a:latin typeface="Spline Sans"/>
              </a:rPr>
              <a:t>Data Input</a:t>
            </a:r>
            <a:endParaRPr lang="en-US" sz="3200" b="0" u="none" strike="noStrike" dirty="0">
              <a:solidFill>
                <a:srgbClr val="000000"/>
              </a:solidFill>
              <a:effectLst/>
              <a:uFillTx/>
              <a:latin typeface="OpenSymbol"/>
            </a:endParaRPr>
          </a:p>
        </p:txBody>
      </p:sp>
      <p:pic>
        <p:nvPicPr>
          <p:cNvPr id="2" name="Picture 1">
            <a:extLst>
              <a:ext uri="{FF2B5EF4-FFF2-40B4-BE49-F238E27FC236}">
                <a16:creationId xmlns:a16="http://schemas.microsoft.com/office/drawing/2014/main" id="{E0F48127-2B5B-212C-6C4F-D2B9D3C80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077" y="1189173"/>
            <a:ext cx="4550410" cy="1177925"/>
          </a:xfrm>
          <a:prstGeom prst="rect">
            <a:avLst/>
          </a:prstGeom>
        </p:spPr>
      </p:pic>
      <p:pic>
        <p:nvPicPr>
          <p:cNvPr id="4" name="Picture 3">
            <a:extLst>
              <a:ext uri="{FF2B5EF4-FFF2-40B4-BE49-F238E27FC236}">
                <a16:creationId xmlns:a16="http://schemas.microsoft.com/office/drawing/2014/main" id="{D6EE1A22-29A2-ABD3-21DD-1A1F09FF32D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243077" y="2857320"/>
            <a:ext cx="6912859" cy="1097007"/>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oogle Shape;202;p29"/>
          <p:cNvGrpSpPr/>
          <p:nvPr/>
        </p:nvGrpSpPr>
        <p:grpSpPr>
          <a:xfrm>
            <a:off x="228600" y="228240"/>
            <a:ext cx="8686440" cy="4686480"/>
            <a:chOff x="228600" y="228240"/>
            <a:chExt cx="8686440" cy="4686480"/>
          </a:xfrm>
        </p:grpSpPr>
        <p:cxnSp>
          <p:nvCxnSpPr>
            <p:cNvPr id="43" name="Google Shape;203;p29"/>
            <p:cNvCxnSpPr/>
            <p:nvPr/>
          </p:nvCxnSpPr>
          <p:spPr>
            <a:xfrm>
              <a:off x="7280280" y="3466800"/>
              <a:ext cx="360" cy="1448280"/>
            </a:xfrm>
            <a:prstGeom prst="straightConnector1">
              <a:avLst/>
            </a:prstGeom>
            <a:ln w="9525">
              <a:solidFill>
                <a:srgbClr val="A92422"/>
              </a:solidFill>
              <a:round/>
            </a:ln>
          </p:spPr>
        </p:cxnSp>
        <p:cxnSp>
          <p:nvCxnSpPr>
            <p:cNvPr id="44"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45"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46" name="Google Shape;206;p29"/>
            <p:cNvCxnSpPr/>
            <p:nvPr/>
          </p:nvCxnSpPr>
          <p:spPr>
            <a:xfrm>
              <a:off x="7279200" y="228240"/>
              <a:ext cx="1440" cy="3009960"/>
            </a:xfrm>
            <a:prstGeom prst="straightConnector1">
              <a:avLst/>
            </a:prstGeom>
            <a:ln w="9525">
              <a:solidFill>
                <a:srgbClr val="A92422"/>
              </a:solidFill>
              <a:round/>
            </a:ln>
          </p:spPr>
        </p:cxnSp>
        <p:cxnSp>
          <p:nvCxnSpPr>
            <p:cNvPr id="47" name="Google Shape;207;p29"/>
            <p:cNvCxnSpPr/>
            <p:nvPr/>
          </p:nvCxnSpPr>
          <p:spPr>
            <a:xfrm>
              <a:off x="228600" y="3352320"/>
              <a:ext cx="6948720" cy="360"/>
            </a:xfrm>
            <a:prstGeom prst="straightConnector1">
              <a:avLst/>
            </a:prstGeom>
            <a:ln w="9525">
              <a:solidFill>
                <a:srgbClr val="A92422"/>
              </a:solidFill>
              <a:round/>
            </a:ln>
          </p:spPr>
        </p:cxnSp>
        <p:cxnSp>
          <p:nvCxnSpPr>
            <p:cNvPr id="48" name="Google Shape;208;p29"/>
            <p:cNvCxnSpPr/>
            <p:nvPr/>
          </p:nvCxnSpPr>
          <p:spPr>
            <a:xfrm>
              <a:off x="7405560" y="3352320"/>
              <a:ext cx="1509840" cy="360"/>
            </a:xfrm>
            <a:prstGeom prst="straightConnector1">
              <a:avLst/>
            </a:prstGeom>
            <a:ln w="9525">
              <a:solidFill>
                <a:srgbClr val="A92422"/>
              </a:solidFill>
              <a:round/>
            </a:ln>
          </p:spPr>
        </p:cxnSp>
      </p:grpSp>
      <p:sp>
        <p:nvSpPr>
          <p:cNvPr id="49" name="PlaceHolder 1"/>
          <p:cNvSpPr>
            <a:spLocks noGrp="1"/>
          </p:cNvSpPr>
          <p:nvPr>
            <p:ph type="title"/>
          </p:nvPr>
        </p:nvSpPr>
        <p:spPr>
          <a:xfrm>
            <a:off x="4884240" y="4269393"/>
            <a:ext cx="2171520" cy="645687"/>
          </a:xfrm>
          <a:prstGeom prst="rect">
            <a:avLst/>
          </a:prstGeom>
          <a:noFill/>
          <a:ln w="0">
            <a:noFill/>
          </a:ln>
        </p:spPr>
        <p:txBody>
          <a:bodyPr lIns="91440" tIns="91440" rIns="91440" bIns="91440" anchor="b">
            <a:normAutofit fontScale="90000"/>
          </a:bodyPr>
          <a:lstStyle/>
          <a:p>
            <a:pPr indent="0" algn="r">
              <a:lnSpc>
                <a:spcPct val="100000"/>
              </a:lnSpc>
              <a:buNone/>
              <a:tabLst>
                <a:tab pos="0" algn="l"/>
              </a:tabLst>
            </a:pPr>
            <a:r>
              <a:rPr lang="en-US" sz="3200" b="0" u="none" strike="noStrike" dirty="0">
                <a:solidFill>
                  <a:schemeClr val="dk1"/>
                </a:solidFill>
                <a:effectLst/>
                <a:uFillTx/>
                <a:latin typeface="Spline Sans"/>
                <a:ea typeface="Spline Sans"/>
              </a:rPr>
              <a:t>Data Setup</a:t>
            </a:r>
            <a:endParaRPr lang="fr-FR" sz="3200" b="0" u="none" strike="noStrike" dirty="0">
              <a:solidFill>
                <a:schemeClr val="dk1"/>
              </a:solidFill>
              <a:effectLst/>
              <a:uFillTx/>
              <a:latin typeface="Arial"/>
            </a:endParaRPr>
          </a:p>
        </p:txBody>
      </p:sp>
      <p:sp>
        <p:nvSpPr>
          <p:cNvPr id="50" name="PlaceHolder 2"/>
          <p:cNvSpPr>
            <a:spLocks noGrp="1"/>
          </p:cNvSpPr>
          <p:nvPr>
            <p:ph type="subTitle"/>
          </p:nvPr>
        </p:nvSpPr>
        <p:spPr>
          <a:xfrm>
            <a:off x="228600" y="209520"/>
            <a:ext cx="5428800" cy="2580840"/>
          </a:xfrm>
          <a:prstGeom prst="rect">
            <a:avLst/>
          </a:prstGeom>
          <a:noFill/>
          <a:ln w="0">
            <a:noFill/>
          </a:ln>
        </p:spPr>
        <p:txBody>
          <a:bodyPr lIns="91440" tIns="91440" rIns="91440" bIns="91440" anchor="t">
            <a:normAutofit/>
          </a:bodyPr>
          <a:lstStyle/>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Data split: athlete-level data</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Variable measurement: fall baseline for spring prediction</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rPr>
              <a:t>Cluster formation: highly-resilient to highly-sensitive</a:t>
            </a:r>
            <a:endParaRPr lang="en-US" sz="1600" dirty="0">
              <a:solidFill>
                <a:srgbClr val="000000"/>
              </a:solidFill>
              <a:latin typeface="OpenSymbol"/>
            </a:endParaRPr>
          </a:p>
        </p:txBody>
      </p:sp>
      <p:pic>
        <p:nvPicPr>
          <p:cNvPr id="3" name="Picture 2">
            <a:extLst>
              <a:ext uri="{FF2B5EF4-FFF2-40B4-BE49-F238E27FC236}">
                <a16:creationId xmlns:a16="http://schemas.microsoft.com/office/drawing/2014/main" id="{E4CD320C-D15B-F96C-B00B-BB22D1EA7112}"/>
              </a:ext>
            </a:extLst>
          </p:cNvPr>
          <p:cNvPicPr>
            <a:picLocks noChangeAspect="1"/>
          </p:cNvPicPr>
          <p:nvPr/>
        </p:nvPicPr>
        <p:blipFill>
          <a:blip r:embed="rId3">
            <a:extLst>
              <a:ext uri="{28A0092B-C50C-407E-A947-70E740481C1C}">
                <a14:useLocalDpi xmlns:a14="http://schemas.microsoft.com/office/drawing/2010/main" val="0"/>
              </a:ext>
            </a:extLst>
          </a:blip>
          <a:srcRect b="5130"/>
          <a:stretch>
            <a:fillRect/>
          </a:stretch>
        </p:blipFill>
        <p:spPr>
          <a:xfrm>
            <a:off x="5893213" y="1850957"/>
            <a:ext cx="3109187" cy="2163138"/>
          </a:xfrm>
          <a:prstGeom prst="rect">
            <a:avLst/>
          </a:prstGeom>
        </p:spPr>
      </p:pic>
      <p:pic>
        <p:nvPicPr>
          <p:cNvPr id="5" name="Picture 4">
            <a:extLst>
              <a:ext uri="{FF2B5EF4-FFF2-40B4-BE49-F238E27FC236}">
                <a16:creationId xmlns:a16="http://schemas.microsoft.com/office/drawing/2014/main" id="{451966E3-F8EA-0514-6579-B683783395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1854927"/>
            <a:ext cx="5539334" cy="2163138"/>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 calcmode="lin" valueType="num">
                                      <p:cBhvr additive="base">
                                        <p:cTn id="7"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
                                            <p:txEl>
                                              <p:pRg st="1" end="1"/>
                                            </p:txEl>
                                          </p:spTgt>
                                        </p:tgtEl>
                                        <p:attrNameLst>
                                          <p:attrName>style.visibility</p:attrName>
                                        </p:attrNameLst>
                                      </p:cBhvr>
                                      <p:to>
                                        <p:strVal val="visible"/>
                                      </p:to>
                                    </p:set>
                                    <p:anim calcmode="lin" valueType="num">
                                      <p:cBhvr additive="base">
                                        <p:cTn id="13" dur="500" fill="hold"/>
                                        <p:tgtEl>
                                          <p:spTgt spid="5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
                                            <p:txEl>
                                              <p:pRg st="2" end="2"/>
                                            </p:txEl>
                                          </p:spTgt>
                                        </p:tgtEl>
                                        <p:attrNameLst>
                                          <p:attrName>style.visibility</p:attrName>
                                        </p:attrNameLst>
                                      </p:cBhvr>
                                      <p:to>
                                        <p:strVal val="visible"/>
                                      </p:to>
                                    </p:set>
                                    <p:anim calcmode="lin" valueType="num">
                                      <p:cBhvr additive="base">
                                        <p:cTn id="19" dur="500" fill="hold"/>
                                        <p:tgtEl>
                                          <p:spTgt spid="5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oogle Shape;278;p33"/>
          <p:cNvGrpSpPr/>
          <p:nvPr/>
        </p:nvGrpSpPr>
        <p:grpSpPr>
          <a:xfrm>
            <a:off x="228600" y="225000"/>
            <a:ext cx="8686800" cy="4689720"/>
            <a:chOff x="228600" y="225000"/>
            <a:chExt cx="8686800" cy="4689720"/>
          </a:xfrm>
        </p:grpSpPr>
        <p:cxnSp>
          <p:nvCxnSpPr>
            <p:cNvPr id="53" name="Google Shape;279;p33"/>
            <p:cNvCxnSpPr/>
            <p:nvPr/>
          </p:nvCxnSpPr>
          <p:spPr>
            <a:xfrm>
              <a:off x="4024080" y="1901880"/>
              <a:ext cx="360" cy="3013200"/>
            </a:xfrm>
            <a:prstGeom prst="straightConnector1">
              <a:avLst/>
            </a:prstGeom>
            <a:ln w="9525">
              <a:solidFill>
                <a:srgbClr val="A92422"/>
              </a:solidFill>
              <a:round/>
            </a:ln>
          </p:spPr>
        </p:cxnSp>
        <p:cxnSp>
          <p:nvCxnSpPr>
            <p:cNvPr id="54" name="Google Shape;280;p33"/>
            <p:cNvCxnSpPr/>
            <p:nvPr/>
          </p:nvCxnSpPr>
          <p:spPr>
            <a:xfrm>
              <a:off x="4024080" y="1673280"/>
              <a:ext cx="360" cy="228960"/>
            </a:xfrm>
            <a:prstGeom prst="straightConnector1">
              <a:avLst/>
            </a:prstGeom>
            <a:ln w="9525">
              <a:solidFill>
                <a:srgbClr val="A92422"/>
              </a:solidFill>
              <a:prstDash val="dot"/>
              <a:round/>
            </a:ln>
          </p:spPr>
        </p:cxnSp>
        <p:cxnSp>
          <p:nvCxnSpPr>
            <p:cNvPr id="55" name="Google Shape;281;p33"/>
            <p:cNvCxnSpPr/>
            <p:nvPr/>
          </p:nvCxnSpPr>
          <p:spPr>
            <a:xfrm>
              <a:off x="3920760" y="1787760"/>
              <a:ext cx="228960" cy="360"/>
            </a:xfrm>
            <a:prstGeom prst="straightConnector1">
              <a:avLst/>
            </a:prstGeom>
            <a:ln w="9525">
              <a:solidFill>
                <a:srgbClr val="A92422"/>
              </a:solidFill>
              <a:prstDash val="dot"/>
              <a:round/>
            </a:ln>
          </p:spPr>
        </p:cxnSp>
        <p:cxnSp>
          <p:nvCxnSpPr>
            <p:cNvPr id="56" name="Google Shape;282;p33"/>
            <p:cNvCxnSpPr/>
            <p:nvPr/>
          </p:nvCxnSpPr>
          <p:spPr>
            <a:xfrm>
              <a:off x="4023000" y="225000"/>
              <a:ext cx="1440" cy="1448640"/>
            </a:xfrm>
            <a:prstGeom prst="straightConnector1">
              <a:avLst/>
            </a:prstGeom>
            <a:ln w="9525">
              <a:solidFill>
                <a:srgbClr val="A92422"/>
              </a:solidFill>
              <a:round/>
            </a:ln>
          </p:spPr>
        </p:cxnSp>
        <p:cxnSp>
          <p:nvCxnSpPr>
            <p:cNvPr id="57" name="Google Shape;283;p33"/>
            <p:cNvCxnSpPr/>
            <p:nvPr/>
          </p:nvCxnSpPr>
          <p:spPr>
            <a:xfrm>
              <a:off x="228600" y="1787760"/>
              <a:ext cx="3692880" cy="360"/>
            </a:xfrm>
            <a:prstGeom prst="straightConnector1">
              <a:avLst/>
            </a:prstGeom>
            <a:ln w="9525">
              <a:solidFill>
                <a:srgbClr val="A92422"/>
              </a:solidFill>
              <a:round/>
            </a:ln>
          </p:spPr>
        </p:cxnSp>
        <p:cxnSp>
          <p:nvCxnSpPr>
            <p:cNvPr id="58" name="Google Shape;284;p33"/>
            <p:cNvCxnSpPr/>
            <p:nvPr/>
          </p:nvCxnSpPr>
          <p:spPr>
            <a:xfrm>
              <a:off x="4149360" y="1787760"/>
              <a:ext cx="4766400" cy="360"/>
            </a:xfrm>
            <a:prstGeom prst="straightConnector1">
              <a:avLst/>
            </a:prstGeom>
            <a:ln w="9525">
              <a:solidFill>
                <a:srgbClr val="A92422"/>
              </a:solidFill>
              <a:round/>
            </a:ln>
          </p:spPr>
        </p:cxnSp>
      </p:grpSp>
      <p:sp>
        <p:nvSpPr>
          <p:cNvPr id="59" name="PlaceHolder 1"/>
          <p:cNvSpPr>
            <a:spLocks noGrp="1"/>
          </p:cNvSpPr>
          <p:nvPr>
            <p:ph type="title"/>
          </p:nvPr>
        </p:nvSpPr>
        <p:spPr>
          <a:xfrm>
            <a:off x="228240" y="338295"/>
            <a:ext cx="4543200" cy="109512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200" b="0" u="none" strike="noStrike" dirty="0">
                <a:solidFill>
                  <a:schemeClr val="dk1"/>
                </a:solidFill>
                <a:effectLst/>
                <a:uFillTx/>
                <a:latin typeface="Spline Sans"/>
                <a:ea typeface="Spline Sans"/>
              </a:rPr>
              <a:t>XGBoost Model</a:t>
            </a:r>
            <a:endParaRPr lang="fr-FR" sz="3200" b="0" u="none" strike="noStrike" dirty="0">
              <a:solidFill>
                <a:schemeClr val="dk1"/>
              </a:solidFill>
              <a:effectLst/>
              <a:uFillTx/>
              <a:latin typeface="Arial"/>
            </a:endParaRPr>
          </a:p>
        </p:txBody>
      </p:sp>
      <p:sp>
        <p:nvSpPr>
          <p:cNvPr id="60" name="PlaceHolder 2"/>
          <p:cNvSpPr>
            <a:spLocks noGrp="1"/>
          </p:cNvSpPr>
          <p:nvPr>
            <p:ph type="subTitle"/>
          </p:nvPr>
        </p:nvSpPr>
        <p:spPr>
          <a:xfrm>
            <a:off x="5275679" y="3296861"/>
            <a:ext cx="4295520" cy="1421720"/>
          </a:xfrm>
          <a:prstGeom prst="rect">
            <a:avLst/>
          </a:prstGeom>
          <a:noFill/>
          <a:ln w="0">
            <a:noFill/>
          </a:ln>
        </p:spPr>
        <p:txBody>
          <a:bodyPr lIns="91440" tIns="91440" rIns="91440" bIns="91440" anchor="b">
            <a:normAutofit/>
          </a:bodyPr>
          <a:lstStyle/>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Model hyperparameters</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Summary statistics</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rPr>
              <a:t>Output limitations</a:t>
            </a:r>
            <a:endParaRPr lang="en-US" sz="1600" dirty="0">
              <a:solidFill>
                <a:srgbClr val="000000"/>
              </a:solidFill>
              <a:latin typeface="OpenSymbol"/>
            </a:endParaRPr>
          </a:p>
        </p:txBody>
      </p:sp>
      <p:pic>
        <p:nvPicPr>
          <p:cNvPr id="2" name="Picture 1">
            <a:extLst>
              <a:ext uri="{FF2B5EF4-FFF2-40B4-BE49-F238E27FC236}">
                <a16:creationId xmlns:a16="http://schemas.microsoft.com/office/drawing/2014/main" id="{2422D7EA-ED76-B3DC-DED9-E6FCEB7995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240" y="2825449"/>
            <a:ext cx="4764960" cy="1240792"/>
          </a:xfrm>
          <a:prstGeom prst="rect">
            <a:avLst/>
          </a:prstGeom>
        </p:spPr>
      </p:pic>
      <p:pic>
        <p:nvPicPr>
          <p:cNvPr id="4" name="Picture 3">
            <a:extLst>
              <a:ext uri="{FF2B5EF4-FFF2-40B4-BE49-F238E27FC236}">
                <a16:creationId xmlns:a16="http://schemas.microsoft.com/office/drawing/2014/main" id="{61900376-8948-994B-C083-1F6C98C0A9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240" y="1135779"/>
            <a:ext cx="5610092" cy="1532201"/>
          </a:xfrm>
          <a:prstGeom prst="rect">
            <a:avLst/>
          </a:prstGeom>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0" u="none" strike="noStrike" dirty="0">
                <a:solidFill>
                  <a:schemeClr val="dk1"/>
                </a:solidFill>
                <a:effectLst/>
                <a:uFillTx/>
                <a:latin typeface="Spline Sans"/>
              </a:rPr>
              <a:t>Feature Importance</a:t>
            </a:r>
            <a:endParaRPr lang="en-US" sz="2800" b="0" u="none" strike="noStrike" dirty="0">
              <a:solidFill>
                <a:srgbClr val="000000"/>
              </a:solidFill>
              <a:effectLst/>
              <a:uFillTx/>
              <a:latin typeface="OpenSymbol"/>
            </a:endParaRPr>
          </a:p>
        </p:txBody>
      </p:sp>
      <p:pic>
        <p:nvPicPr>
          <p:cNvPr id="2" name="Picture 1">
            <a:extLst>
              <a:ext uri="{FF2B5EF4-FFF2-40B4-BE49-F238E27FC236}">
                <a16:creationId xmlns:a16="http://schemas.microsoft.com/office/drawing/2014/main" id="{EC20CA50-48CA-FB96-7413-9EF09D9EEC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280" y="1228076"/>
            <a:ext cx="2622189" cy="3258868"/>
          </a:xfrm>
          <a:prstGeom prst="rect">
            <a:avLst/>
          </a:prstGeom>
        </p:spPr>
      </p:pic>
      <p:pic>
        <p:nvPicPr>
          <p:cNvPr id="3" name="Picture 2">
            <a:extLst>
              <a:ext uri="{FF2B5EF4-FFF2-40B4-BE49-F238E27FC236}">
                <a16:creationId xmlns:a16="http://schemas.microsoft.com/office/drawing/2014/main" id="{DC641486-F973-971C-97D4-8F7F26EAB88B}"/>
              </a:ext>
            </a:extLst>
          </p:cNvPr>
          <p:cNvPicPr>
            <a:picLocks noChangeAspect="1"/>
          </p:cNvPicPr>
          <p:nvPr/>
        </p:nvPicPr>
        <p:blipFill>
          <a:blip r:embed="rId4"/>
          <a:stretch>
            <a:fillRect/>
          </a:stretch>
        </p:blipFill>
        <p:spPr>
          <a:xfrm>
            <a:off x="3994619" y="1223759"/>
            <a:ext cx="4672741" cy="3263185"/>
          </a:xfrm>
          <a:prstGeom prst="rect">
            <a:avLst/>
          </a:prstGeom>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dirty="0">
                <a:solidFill>
                  <a:schemeClr val="dk1"/>
                </a:solidFill>
                <a:effectLst/>
                <a:uFillTx/>
                <a:latin typeface="Spline Sans"/>
              </a:rPr>
              <a:t>Future Prediction</a:t>
            </a:r>
            <a:endParaRPr lang="en-US" sz="40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65ED1C2A-970D-02B6-ABEC-464E1D2B0A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7295" y="674344"/>
            <a:ext cx="5755341" cy="3794812"/>
          </a:xfrm>
          <a:prstGeom prst="rect">
            <a:avLst/>
          </a:prstGeom>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oogle Shape;202;p29"/>
          <p:cNvGrpSpPr/>
          <p:nvPr/>
        </p:nvGrpSpPr>
        <p:grpSpPr>
          <a:xfrm>
            <a:off x="228600" y="228240"/>
            <a:ext cx="8686440" cy="4686480"/>
            <a:chOff x="228600" y="228240"/>
            <a:chExt cx="8686440" cy="4686480"/>
          </a:xfrm>
        </p:grpSpPr>
        <p:cxnSp>
          <p:nvCxnSpPr>
            <p:cNvPr id="69" name="Google Shape;203;p29"/>
            <p:cNvCxnSpPr/>
            <p:nvPr/>
          </p:nvCxnSpPr>
          <p:spPr>
            <a:xfrm>
              <a:off x="7280280" y="3466800"/>
              <a:ext cx="360" cy="1448280"/>
            </a:xfrm>
            <a:prstGeom prst="straightConnector1">
              <a:avLst/>
            </a:prstGeom>
            <a:ln w="9525">
              <a:solidFill>
                <a:srgbClr val="A92422"/>
              </a:solidFill>
              <a:round/>
            </a:ln>
          </p:spPr>
        </p:cxnSp>
        <p:cxnSp>
          <p:nvCxnSpPr>
            <p:cNvPr id="70" name="Google Shape;204;p29"/>
            <p:cNvCxnSpPr/>
            <p:nvPr/>
          </p:nvCxnSpPr>
          <p:spPr>
            <a:xfrm>
              <a:off x="7280280" y="3238200"/>
              <a:ext cx="360" cy="228960"/>
            </a:xfrm>
            <a:prstGeom prst="straightConnector1">
              <a:avLst/>
            </a:prstGeom>
            <a:ln w="9525">
              <a:solidFill>
                <a:srgbClr val="A92422"/>
              </a:solidFill>
              <a:prstDash val="dot"/>
              <a:round/>
            </a:ln>
          </p:spPr>
        </p:cxnSp>
        <p:cxnSp>
          <p:nvCxnSpPr>
            <p:cNvPr id="71" name="Google Shape;205;p29"/>
            <p:cNvCxnSpPr/>
            <p:nvPr/>
          </p:nvCxnSpPr>
          <p:spPr>
            <a:xfrm>
              <a:off x="7176960" y="3352320"/>
              <a:ext cx="228960" cy="360"/>
            </a:xfrm>
            <a:prstGeom prst="straightConnector1">
              <a:avLst/>
            </a:prstGeom>
            <a:ln w="9525">
              <a:solidFill>
                <a:srgbClr val="A92422"/>
              </a:solidFill>
              <a:prstDash val="dot"/>
              <a:round/>
            </a:ln>
          </p:spPr>
        </p:cxnSp>
        <p:cxnSp>
          <p:nvCxnSpPr>
            <p:cNvPr id="72" name="Google Shape;206;p29"/>
            <p:cNvCxnSpPr/>
            <p:nvPr/>
          </p:nvCxnSpPr>
          <p:spPr>
            <a:xfrm>
              <a:off x="7279200" y="228240"/>
              <a:ext cx="1440" cy="3009960"/>
            </a:xfrm>
            <a:prstGeom prst="straightConnector1">
              <a:avLst/>
            </a:prstGeom>
            <a:ln w="9525">
              <a:solidFill>
                <a:srgbClr val="A92422"/>
              </a:solidFill>
              <a:round/>
            </a:ln>
          </p:spPr>
        </p:cxnSp>
        <p:cxnSp>
          <p:nvCxnSpPr>
            <p:cNvPr id="73" name="Google Shape;207;p29"/>
            <p:cNvCxnSpPr/>
            <p:nvPr/>
          </p:nvCxnSpPr>
          <p:spPr>
            <a:xfrm>
              <a:off x="228600" y="3352320"/>
              <a:ext cx="6948720" cy="360"/>
            </a:xfrm>
            <a:prstGeom prst="straightConnector1">
              <a:avLst/>
            </a:prstGeom>
            <a:ln w="9525">
              <a:solidFill>
                <a:srgbClr val="A92422"/>
              </a:solidFill>
              <a:round/>
            </a:ln>
          </p:spPr>
        </p:cxnSp>
        <p:cxnSp>
          <p:nvCxnSpPr>
            <p:cNvPr id="74" name="Google Shape;208;p29"/>
            <p:cNvCxnSpPr/>
            <p:nvPr/>
          </p:nvCxnSpPr>
          <p:spPr>
            <a:xfrm>
              <a:off x="7405560" y="3352320"/>
              <a:ext cx="1509840" cy="360"/>
            </a:xfrm>
            <a:prstGeom prst="straightConnector1">
              <a:avLst/>
            </a:prstGeom>
            <a:ln w="9525">
              <a:solidFill>
                <a:srgbClr val="A92422"/>
              </a:solidFill>
              <a:round/>
            </a:ln>
          </p:spPr>
        </p:cxnSp>
      </p:grpSp>
      <p:sp>
        <p:nvSpPr>
          <p:cNvPr id="75" name="PlaceHolder 1"/>
          <p:cNvSpPr>
            <a:spLocks noGrp="1"/>
          </p:cNvSpPr>
          <p:nvPr>
            <p:ph type="title"/>
          </p:nvPr>
        </p:nvSpPr>
        <p:spPr>
          <a:xfrm>
            <a:off x="2808473" y="3076560"/>
            <a:ext cx="3935047" cy="18568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2800" b="0" u="none" strike="noStrike" dirty="0">
                <a:solidFill>
                  <a:schemeClr val="dk1"/>
                </a:solidFill>
                <a:effectLst/>
                <a:uFillTx/>
                <a:latin typeface="Spline Sans"/>
                <a:ea typeface="Spline Sans"/>
              </a:rPr>
              <a:t>Model Recommendation</a:t>
            </a:r>
            <a:endParaRPr lang="fr-FR" sz="2800" b="0" u="none" strike="noStrike" dirty="0">
              <a:solidFill>
                <a:schemeClr val="dk1"/>
              </a:solidFill>
              <a:effectLst/>
              <a:uFillTx/>
              <a:latin typeface="Arial"/>
            </a:endParaRPr>
          </a:p>
        </p:txBody>
      </p:sp>
      <p:sp>
        <p:nvSpPr>
          <p:cNvPr id="76" name="PlaceHolder 2"/>
          <p:cNvSpPr>
            <a:spLocks noGrp="1"/>
          </p:cNvSpPr>
          <p:nvPr>
            <p:ph type="subTitle"/>
          </p:nvPr>
        </p:nvSpPr>
        <p:spPr>
          <a:xfrm>
            <a:off x="228600" y="483480"/>
            <a:ext cx="3646265" cy="1428021"/>
          </a:xfrm>
          <a:prstGeom prst="rect">
            <a:avLst/>
          </a:prstGeom>
          <a:noFill/>
          <a:ln w="0">
            <a:noFill/>
          </a:ln>
        </p:spPr>
        <p:txBody>
          <a:bodyPr lIns="91440" tIns="91440" rIns="91440" bIns="91440" anchor="t">
            <a:normAutofit/>
          </a:bodyPr>
          <a:lstStyle/>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Stakeholder responsibilities</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Modified training plans</a:t>
            </a:r>
          </a:p>
          <a:p>
            <a:pPr marL="171450" indent="-171450" algn="just">
              <a:lnSpc>
                <a:spcPct val="150000"/>
              </a:lnSpc>
              <a:buFont typeface="Arial" panose="020B0604020202020204" pitchFamily="34" charset="0"/>
              <a:buChar char="•"/>
              <a:tabLst>
                <a:tab pos="0" algn="l"/>
              </a:tabLst>
            </a:pPr>
            <a:r>
              <a:rPr lang="en-US" sz="1600" dirty="0">
                <a:solidFill>
                  <a:schemeClr val="dk1"/>
                </a:solidFill>
                <a:latin typeface="Spline Sans"/>
                <a:ea typeface="Spline Sans"/>
              </a:rPr>
              <a:t>Return charter flights</a:t>
            </a:r>
          </a:p>
        </p:txBody>
      </p:sp>
      <p:pic>
        <p:nvPicPr>
          <p:cNvPr id="2" name="Picture 1" descr="What is a Charter Flight? - Sun Air Jets">
            <a:extLst>
              <a:ext uri="{FF2B5EF4-FFF2-40B4-BE49-F238E27FC236}">
                <a16:creationId xmlns:a16="http://schemas.microsoft.com/office/drawing/2014/main" id="{EAA28CC3-81D5-92CC-C32F-D8EEB0873AE5}"/>
              </a:ext>
            </a:extLst>
          </p:cNvPr>
          <p:cNvPicPr>
            <a:picLocks noChangeAspect="1"/>
          </p:cNvPicPr>
          <p:nvPr/>
        </p:nvPicPr>
        <p:blipFill>
          <a:blip r:embed="rId3"/>
          <a:stretch>
            <a:fillRect/>
          </a:stretch>
        </p:blipFill>
        <p:spPr>
          <a:xfrm>
            <a:off x="6162758" y="2016981"/>
            <a:ext cx="2752642" cy="1988019"/>
          </a:xfrm>
          <a:prstGeom prst="rect">
            <a:avLst/>
          </a:prstGeom>
        </p:spPr>
      </p:pic>
      <p:pic>
        <p:nvPicPr>
          <p:cNvPr id="4" name="Picture 3" descr="Athletics Branding | On Message | University of Notre Dame">
            <a:extLst>
              <a:ext uri="{FF2B5EF4-FFF2-40B4-BE49-F238E27FC236}">
                <a16:creationId xmlns:a16="http://schemas.microsoft.com/office/drawing/2014/main" id="{225F5DDF-819E-1E02-2E50-3EC71431054F}"/>
              </a:ext>
            </a:extLst>
          </p:cNvPr>
          <p:cNvPicPr>
            <a:picLocks noChangeAspect="1"/>
          </p:cNvPicPr>
          <p:nvPr/>
        </p:nvPicPr>
        <p:blipFill>
          <a:blip r:embed="rId4"/>
          <a:stretch>
            <a:fillRect/>
          </a:stretch>
        </p:blipFill>
        <p:spPr>
          <a:xfrm>
            <a:off x="228600" y="2016981"/>
            <a:ext cx="2328830" cy="1987268"/>
          </a:xfrm>
          <a:prstGeom prst="rect">
            <a:avLst/>
          </a:prstGeom>
        </p:spPr>
      </p:pic>
      <p:pic>
        <p:nvPicPr>
          <p:cNvPr id="5" name="Picture 4" descr="What Are the Rest and Recovery Strategies in Preventing Sports-Related  Injuries?">
            <a:extLst>
              <a:ext uri="{FF2B5EF4-FFF2-40B4-BE49-F238E27FC236}">
                <a16:creationId xmlns:a16="http://schemas.microsoft.com/office/drawing/2014/main" id="{CB7C87B4-1378-9711-9DE5-F8CA7B079521}"/>
              </a:ext>
            </a:extLst>
          </p:cNvPr>
          <p:cNvPicPr>
            <a:picLocks noChangeAspect="1"/>
          </p:cNvPicPr>
          <p:nvPr/>
        </p:nvPicPr>
        <p:blipFill>
          <a:blip r:embed="rId5"/>
          <a:stretch>
            <a:fillRect/>
          </a:stretch>
        </p:blipFill>
        <p:spPr>
          <a:xfrm>
            <a:off x="2798903" y="2064240"/>
            <a:ext cx="3122381" cy="1988019"/>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476460" y="683625"/>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dirty="0">
                <a:solidFill>
                  <a:schemeClr val="dk1"/>
                </a:solidFill>
                <a:latin typeface="Spline Sans"/>
              </a:rPr>
              <a:t>Future Work</a:t>
            </a:r>
            <a:endParaRPr lang="en-US" sz="3200" b="0" u="none" strike="noStrike" dirty="0">
              <a:solidFill>
                <a:srgbClr val="000000"/>
              </a:solidFill>
              <a:effectLst/>
              <a:uFillTx/>
              <a:latin typeface="OpenSymbol"/>
            </a:endParaRPr>
          </a:p>
        </p:txBody>
      </p:sp>
      <p:graphicFrame>
        <p:nvGraphicFramePr>
          <p:cNvPr id="2" name="Diagram 1">
            <a:extLst>
              <a:ext uri="{FF2B5EF4-FFF2-40B4-BE49-F238E27FC236}">
                <a16:creationId xmlns:a16="http://schemas.microsoft.com/office/drawing/2014/main" id="{AFA9A270-12FE-477C-8071-FFFEE720FC9A}"/>
              </a:ext>
            </a:extLst>
          </p:cNvPr>
          <p:cNvGraphicFramePr/>
          <p:nvPr>
            <p:extLst>
              <p:ext uri="{D42A27DB-BD31-4B8C-83A1-F6EECF244321}">
                <p14:modId xmlns:p14="http://schemas.microsoft.com/office/powerpoint/2010/main" val="724813500"/>
              </p:ext>
            </p:extLst>
          </p:nvPr>
        </p:nvGraphicFramePr>
        <p:xfrm>
          <a:off x="357210" y="1159725"/>
          <a:ext cx="8429580" cy="3266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453978" y="409373"/>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0" u="none" strike="noStrike" dirty="0">
                <a:solidFill>
                  <a:schemeClr val="dk1"/>
                </a:solidFill>
                <a:effectLst/>
                <a:uFillTx/>
                <a:latin typeface="Spline Sans"/>
              </a:rPr>
              <a:t>Q&amp;A</a:t>
            </a:r>
            <a:endParaRPr lang="en-US" sz="3200" b="0" u="none" strike="noStrike" dirty="0">
              <a:solidFill>
                <a:srgbClr val="000000"/>
              </a:solidFill>
              <a:effectLst/>
              <a:uFillTx/>
              <a:latin typeface="OpenSymbol"/>
            </a:endParaRPr>
          </a:p>
        </p:txBody>
      </p:sp>
      <p:pic>
        <p:nvPicPr>
          <p:cNvPr id="5" name="Picture 4">
            <a:extLst>
              <a:ext uri="{FF2B5EF4-FFF2-40B4-BE49-F238E27FC236}">
                <a16:creationId xmlns:a16="http://schemas.microsoft.com/office/drawing/2014/main" id="{90B24CC6-355A-4B38-2DF0-B8F0936AA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387" y="4012397"/>
            <a:ext cx="8681226" cy="408658"/>
          </a:xfrm>
          <a:prstGeom prst="rect">
            <a:avLst/>
          </a:prstGeom>
        </p:spPr>
      </p:pic>
      <p:pic>
        <p:nvPicPr>
          <p:cNvPr id="6" name="Picture 5" descr="Little Miss Memes for the college athlete soul 🤌 #LittleMiss  #LittleMissMemes">
            <a:extLst>
              <a:ext uri="{FF2B5EF4-FFF2-40B4-BE49-F238E27FC236}">
                <a16:creationId xmlns:a16="http://schemas.microsoft.com/office/drawing/2014/main" id="{0ED1B26F-70A4-61C3-842A-96D3ADE5F5FF}"/>
              </a:ext>
            </a:extLst>
          </p:cNvPr>
          <p:cNvPicPr>
            <a:picLocks noChangeAspect="1"/>
          </p:cNvPicPr>
          <p:nvPr/>
        </p:nvPicPr>
        <p:blipFill>
          <a:blip r:embed="rId4"/>
          <a:stretch>
            <a:fillRect/>
          </a:stretch>
        </p:blipFill>
        <p:spPr>
          <a:xfrm>
            <a:off x="3234474" y="926774"/>
            <a:ext cx="2675051" cy="2675051"/>
          </a:xfrm>
          <a:prstGeom prst="rect">
            <a:avLst/>
          </a:prstGeom>
        </p:spPr>
      </p:pic>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A87F-5A66-BA69-787D-5159850298A9}"/>
            </a:ext>
          </a:extLst>
        </p:cNvPr>
        <p:cNvGrpSpPr/>
        <p:nvPr/>
      </p:nvGrpSpPr>
      <p:grpSpPr>
        <a:xfrm>
          <a:off x="0" y="0"/>
          <a:ext cx="0" cy="0"/>
          <a:chOff x="0" y="0"/>
          <a:chExt cx="0" cy="0"/>
        </a:xfrm>
      </p:grpSpPr>
      <p:sp>
        <p:nvSpPr>
          <p:cNvPr id="78" name="Rectangle 77">
            <a:extLst>
              <a:ext uri="{FF2B5EF4-FFF2-40B4-BE49-F238E27FC236}">
                <a16:creationId xmlns:a16="http://schemas.microsoft.com/office/drawing/2014/main" id="{27CF9B94-BFCB-4F47-AE45-5403A9AAD8FA}"/>
              </a:ext>
            </a:extLst>
          </p:cNvPr>
          <p:cNvSpPr/>
          <p:nvPr/>
        </p:nvSpPr>
        <p:spPr>
          <a:xfrm>
            <a:off x="476279"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dirty="0">
                <a:solidFill>
                  <a:schemeClr val="dk1"/>
                </a:solidFill>
                <a:latin typeface="Spline Sans"/>
              </a:rPr>
              <a:t>Bibliography</a:t>
            </a:r>
            <a:endParaRPr lang="en-US" sz="32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D88FCFE7-1094-48BB-62DF-75802240FDC5}"/>
              </a:ext>
            </a:extLst>
          </p:cNvPr>
          <p:cNvSpPr txBox="1"/>
          <p:nvPr/>
        </p:nvSpPr>
        <p:spPr>
          <a:xfrm>
            <a:off x="815608" y="1428480"/>
            <a:ext cx="7512423" cy="2893100"/>
          </a:xfrm>
          <a:prstGeom prst="rect">
            <a:avLst/>
          </a:prstGeom>
          <a:noFill/>
        </p:spPr>
        <p:txBody>
          <a:bodyPr wrap="square">
            <a:spAutoFit/>
          </a:bodyPr>
          <a:lstStyle/>
          <a:p>
            <a:pPr marL="285750" indent="-285750">
              <a:buFont typeface="Arial" panose="020B0604020202020204" pitchFamily="34" charset="0"/>
              <a:buChar char="•"/>
            </a:pPr>
            <a:r>
              <a:rPr lang="en-US" sz="1400" dirty="0"/>
              <a:t>Heller, et al. "The Negative Effects of Travel on Student Athletes Through Sleep and Circadian Disruption." </a:t>
            </a:r>
            <a:r>
              <a:rPr lang="en-US" sz="1400" i="1" dirty="0"/>
              <a:t>Journal of Biological Rhythms</a:t>
            </a:r>
            <a:r>
              <a:rPr lang="en-US" sz="1400" dirty="0"/>
              <a:t>, vol. 39, </a:t>
            </a:r>
            <a:r>
              <a:rPr lang="en-US" sz="1400" dirty="0" err="1"/>
              <a:t>iss</a:t>
            </a:r>
            <a:r>
              <a:rPr lang="en-US" sz="1400" dirty="0"/>
              <a:t>. 1, Feb. 2024, pp. 5-19. https://</a:t>
            </a:r>
            <a:r>
              <a:rPr lang="en-US" sz="1400" dirty="0" err="1"/>
              <a:t>journals.sagepub.com</a:t>
            </a:r>
            <a:r>
              <a:rPr lang="en-US" sz="1400" dirty="0"/>
              <a:t>/</a:t>
            </a:r>
            <a:r>
              <a:rPr lang="en-US" sz="1400" dirty="0" err="1"/>
              <a:t>doi</a:t>
            </a:r>
            <a:r>
              <a:rPr lang="en-US" sz="1400" dirty="0"/>
              <a:t>/</a:t>
            </a:r>
            <a:r>
              <a:rPr lang="en-US" sz="1400" dirty="0" err="1"/>
              <a:t>epub</a:t>
            </a:r>
            <a:r>
              <a:rPr lang="en-US" sz="1400" dirty="0"/>
              <a:t>/10.1177/07487304231207330. Accessed 2 Apr. 2026.</a:t>
            </a:r>
          </a:p>
          <a:p>
            <a:pPr marL="285750" indent="-285750">
              <a:buFont typeface="Arial" panose="020B0604020202020204" pitchFamily="34" charset="0"/>
              <a:buChar char="•"/>
            </a:pPr>
            <a:r>
              <a:rPr lang="en-US" sz="1400" dirty="0"/>
              <a:t>Norlander, Matt. “NCAA Votes to Increase College Basketball Schedules to 32-Game Season Beginning in 2026-27.” </a:t>
            </a:r>
            <a:r>
              <a:rPr lang="en-US" sz="1400" i="1" dirty="0"/>
              <a:t>CBS Sports</a:t>
            </a:r>
            <a:r>
              <a:rPr lang="en-US" sz="1400" dirty="0"/>
              <a:t>, CBS Interactive Inc., 25 June 2025, </a:t>
            </a:r>
            <a:r>
              <a:rPr lang="en-US" sz="1400" dirty="0" err="1"/>
              <a:t>www.cbssports.com</a:t>
            </a:r>
            <a:r>
              <a:rPr lang="en-US" sz="1400" dirty="0"/>
              <a:t>/college-basketball/news/ncaa-set-to-allow-college-basketball-schedules-increase-to-32-game-season-beginning-in-2026-27/. Accessed 9 Apr. 2026.</a:t>
            </a:r>
          </a:p>
          <a:p>
            <a:pPr marL="285750" indent="-285750">
              <a:buFont typeface="Arial" panose="020B0604020202020204" pitchFamily="34" charset="0"/>
              <a:buChar char="•"/>
            </a:pPr>
            <a:r>
              <a:rPr lang="en-US" sz="1400" dirty="0"/>
              <a:t>VanZant, River Mackenzie.</a:t>
            </a:r>
            <a:r>
              <a:rPr lang="en-US" sz="1400" i="1" dirty="0"/>
              <a:t> Effect of Travel Stress and Physiological Training Load on In-Game Performance, Recovery, and Subjective Sleep Quality in NCAA DI Women’s Basketball Athletes. </a:t>
            </a:r>
            <a:r>
              <a:rPr lang="en-US" sz="1400" dirty="0"/>
              <a:t>2024. University of Georgia, PhD dissertation. https://</a:t>
            </a:r>
            <a:r>
              <a:rPr lang="en-US" sz="1400" dirty="0" err="1"/>
              <a:t>openscholar.uga.edu</a:t>
            </a:r>
            <a:r>
              <a:rPr lang="en-US" sz="1400" dirty="0"/>
              <a:t>/record/1923/files/</a:t>
            </a:r>
            <a:r>
              <a:rPr lang="en-US" sz="1400" dirty="0" err="1"/>
              <a:t>VanZantRiverPHD.pdf</a:t>
            </a:r>
            <a:r>
              <a:rPr lang="en-US" sz="1400" dirty="0"/>
              <a:t>. Accessed 2 Apr. 2026.</a:t>
            </a:r>
          </a:p>
        </p:txBody>
      </p:sp>
    </p:spTree>
    <p:extLst>
      <p:ext uri="{BB962C8B-B14F-4D97-AF65-F5344CB8AC3E}">
        <p14:creationId xmlns:p14="http://schemas.microsoft.com/office/powerpoint/2010/main" val="528239326"/>
      </p:ext>
    </p:extLst>
  </p:cSld>
  <p:clrMapOvr>
    <a:masterClrMapping/>
  </p:clrMapOvr>
  <p:transition spd="slow">
    <p:push/>
  </p:transition>
</p:sld>
</file>

<file path=ppt/theme/theme1.xml><?xml version="1.0" encoding="utf-8"?>
<a:theme xmlns:a="http://schemas.openxmlformats.org/drawingml/2006/main" name="SWOT Analysis by Slidesgo">
  <a:themeElements>
    <a:clrScheme name="Simple Light">
      <a:dk1>
        <a:srgbClr val="181818"/>
      </a:dk1>
      <a:lt1>
        <a:srgbClr val="E5E2D9"/>
      </a:lt1>
      <a:dk2>
        <a:srgbClr val="181818"/>
      </a:dk2>
      <a:lt2>
        <a:srgbClr val="FDFAFA"/>
      </a:lt2>
      <a:accent1>
        <a:srgbClr val="A92422"/>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546</TotalTime>
  <Words>1311</Words>
  <Application>Microsoft Macintosh PowerPoint</Application>
  <PresentationFormat>On-screen Show (16:9)</PresentationFormat>
  <Paragraphs>74</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Gloock</vt:lpstr>
      <vt:lpstr>OpenSymbol</vt:lpstr>
      <vt:lpstr>Spline Sans</vt:lpstr>
      <vt:lpstr>Symbol</vt:lpstr>
      <vt:lpstr>Wingdings</vt:lpstr>
      <vt:lpstr>SWOT Analysis by Slidesgo</vt:lpstr>
      <vt:lpstr>The Impact of Travel Fatigue on College Athlete Performance</vt:lpstr>
      <vt:lpstr>Introduction</vt:lpstr>
      <vt:lpstr>PowerPoint Presentation</vt:lpstr>
      <vt:lpstr>Data Setup</vt:lpstr>
      <vt:lpstr>XGBoost Model</vt:lpstr>
      <vt:lpstr>PowerPoint Presentation</vt:lpstr>
      <vt:lpstr>PowerPoint Presentation</vt:lpstr>
      <vt:lpstr>Model Recommendation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Ashley Marietta</cp:lastModifiedBy>
  <cp:revision>16</cp:revision>
  <dcterms:modified xsi:type="dcterms:W3CDTF">2026-04-28T14:16:44Z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2026-04-21T14:46:01Z</dcterms:created>
  <dc:creator>Unknown Creator</dc:creator>
  <dc:description/>
  <dc:language>en-US</dc:language>
  <cp:lastModifiedBy>Unknown Creator</cp:lastModifiedBy>
  <dcterms:modified xsi:type="dcterms:W3CDTF">2026-04-21T14:46:01Z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